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319dfe89414f65" /><Relationship Type="http://schemas.openxmlformats.org/officeDocument/2006/relationships/extended-properties" Target="/docProps/app.xml" Id="R78c8faa8e6924eb7" /><Relationship Type="http://schemas.openxmlformats.org/officeDocument/2006/relationships/officeDocument" Target="/ppt/presentation.xml" Id="R634410d0a8a34090" /></Relationships>
</file>

<file path=ppt/presentation.xml><?xml version="1.0" encoding="utf-8"?>
<p:presentation xmlns:p="http://schemas.openxmlformats.org/presentationml/2006/main">
  <p:sldMasterIdLst>
    <p:sldMasterId xmlns:r="http://schemas.openxmlformats.org/officeDocument/2006/relationships" id="2147483648" r:id="Ra9a23e663f234686"/>
  </p:sldMasterIdLst>
  <p:notesMasterIdLst>
    <p:notesMasterId xmlns:r="http://schemas.openxmlformats.org/officeDocument/2006/relationships" r:id="R79ddc69fc4d247d8"/>
  </p:notesMasterIdLst>
  <p:sldIdLst>
    <p:sldId xmlns:r="http://schemas.openxmlformats.org/officeDocument/2006/relationships" id="256" r:id="Ree2889ea9ff74c2b"/>
    <p:sldId xmlns:r="http://schemas.openxmlformats.org/officeDocument/2006/relationships" id="257" r:id="R829e475e387d4533"/>
    <p:sldId xmlns:r="http://schemas.openxmlformats.org/officeDocument/2006/relationships" id="258" r:id="R6080c4c975f7488d"/>
    <p:sldId xmlns:r="http://schemas.openxmlformats.org/officeDocument/2006/relationships" id="259" r:id="R09c9edcc859f4991"/>
    <p:sldId xmlns:r="http://schemas.openxmlformats.org/officeDocument/2006/relationships" id="260" r:id="R1e9b92c40b684606"/>
    <p:sldId xmlns:r="http://schemas.openxmlformats.org/officeDocument/2006/relationships" id="261" r:id="Rba30e5a815114145"/>
    <p:sldId xmlns:r="http://schemas.openxmlformats.org/officeDocument/2006/relationships" id="262" r:id="R4c3fd96f783c41ad"/>
    <p:sldId xmlns:r="http://schemas.openxmlformats.org/officeDocument/2006/relationships" id="263" r:id="R9a09968c6a824527"/>
    <p:sldId xmlns:r="http://schemas.openxmlformats.org/officeDocument/2006/relationships" id="264" r:id="Rfd5ee93f47b84ab2"/>
    <p:sldId xmlns:r="http://schemas.openxmlformats.org/officeDocument/2006/relationships" id="265" r:id="Rd3d015627ee34835"/>
    <p:sldId xmlns:r="http://schemas.openxmlformats.org/officeDocument/2006/relationships" id="266" r:id="Rcda8b3b70227418d"/>
    <p:sldId xmlns:r="http://schemas.openxmlformats.org/officeDocument/2006/relationships" id="267" r:id="Rf0be372e09c042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a81011d57497a" /><Relationship Type="http://schemas.openxmlformats.org/officeDocument/2006/relationships/slideMaster" Target="/ppt/slideMasters/slideMaster1.xml" Id="Ra9a23e663f234686" /><Relationship Type="http://schemas.openxmlformats.org/officeDocument/2006/relationships/notesMaster" Target="/ppt/notesMasters/notesMaster1.xml" Id="R79ddc69fc4d247d8" /><Relationship Type="http://schemas.openxmlformats.org/officeDocument/2006/relationships/presProps" Target="/ppt/presProps.xml" Id="R33fe794b721046d3" /><Relationship Type="http://schemas.openxmlformats.org/officeDocument/2006/relationships/tableStyles" Target="/ppt/tableStyles.xml" Id="R93347710ac924893" /><Relationship Type="http://schemas.openxmlformats.org/officeDocument/2006/relationships/slide" Target="/ppt/slides/slide1.xml" Id="Ree2889ea9ff74c2b" /><Relationship Type="http://schemas.openxmlformats.org/officeDocument/2006/relationships/slide" Target="/ppt/slides/slide2.xml" Id="R829e475e387d4533" /><Relationship Type="http://schemas.openxmlformats.org/officeDocument/2006/relationships/slide" Target="/ppt/slides/slide3.xml" Id="R6080c4c975f7488d" /><Relationship Type="http://schemas.openxmlformats.org/officeDocument/2006/relationships/slide" Target="/ppt/slides/slide4.xml" Id="R09c9edcc859f4991" /><Relationship Type="http://schemas.openxmlformats.org/officeDocument/2006/relationships/slide" Target="/ppt/slides/slide5.xml" Id="R1e9b92c40b684606" /><Relationship Type="http://schemas.openxmlformats.org/officeDocument/2006/relationships/slide" Target="/ppt/slides/slide6.xml" Id="Rba30e5a815114145" /><Relationship Type="http://schemas.openxmlformats.org/officeDocument/2006/relationships/slide" Target="/ppt/slides/slide7.xml" Id="R4c3fd96f783c41ad" /><Relationship Type="http://schemas.openxmlformats.org/officeDocument/2006/relationships/slide" Target="/ppt/slides/slide8.xml" Id="R9a09968c6a824527" /><Relationship Type="http://schemas.openxmlformats.org/officeDocument/2006/relationships/slide" Target="/ppt/slides/slide9.xml" Id="Rfd5ee93f47b84ab2" /><Relationship Type="http://schemas.openxmlformats.org/officeDocument/2006/relationships/slide" Target="/ppt/slides/slide10.xml" Id="Rd3d015627ee34835" /><Relationship Type="http://schemas.openxmlformats.org/officeDocument/2006/relationships/slide" Target="/ppt/slides/slide11.xml" Id="Rcda8b3b70227418d" /><Relationship Type="http://schemas.openxmlformats.org/officeDocument/2006/relationships/slide" Target="/ppt/slides/slide12.xml" Id="Rf0be372e09c042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85ea2271134c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e521e5f8af4e4e" /><Relationship Type="http://schemas.openxmlformats.org/officeDocument/2006/relationships/notesMaster" Target="/ppt/notesMasters/notesMaster1.xml" Id="R94f71cf5912f47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2dec01c0ee4179" /><Relationship Type="http://schemas.openxmlformats.org/officeDocument/2006/relationships/notesMaster" Target="/ppt/notesMasters/notesMaster1.xml" Id="Rae04af8d2c3f42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5588dc3644499f" /><Relationship Type="http://schemas.openxmlformats.org/officeDocument/2006/relationships/notesMaster" Target="/ppt/notesMasters/notesMaster1.xml" Id="R5bf1db8c812e4a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2f7e3324f44268" /><Relationship Type="http://schemas.openxmlformats.org/officeDocument/2006/relationships/notesMaster" Target="/ppt/notesMasters/notesMaster1.xml" Id="R53b2d41c526641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680cffca8946bc" /><Relationship Type="http://schemas.openxmlformats.org/officeDocument/2006/relationships/notesMaster" Target="/ppt/notesMasters/notesMaster1.xml" Id="R9459d54fb8b442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df4ebc0ea249f3" /><Relationship Type="http://schemas.openxmlformats.org/officeDocument/2006/relationships/notesMaster" Target="/ppt/notesMasters/notesMaster1.xml" Id="R038bd4dc7fcc4f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c952993be44e72" /><Relationship Type="http://schemas.openxmlformats.org/officeDocument/2006/relationships/notesMaster" Target="/ppt/notesMasters/notesMaster1.xml" Id="R59a773f93ed441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61ee6b01314c40" /><Relationship Type="http://schemas.openxmlformats.org/officeDocument/2006/relationships/notesMaster" Target="/ppt/notesMasters/notesMaster1.xml" Id="Rf14e880b7d0f4c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446a0421364f31" /><Relationship Type="http://schemas.openxmlformats.org/officeDocument/2006/relationships/notesMaster" Target="/ppt/notesMasters/notesMaster1.xml" Id="Rdb645fc848d24b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0dfe40180d411b" /><Relationship Type="http://schemas.openxmlformats.org/officeDocument/2006/relationships/notesMaster" Target="/ppt/notesMasters/notesMaster1.xml" Id="R4811a6a9bbbe43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5fd462d2534d40" /><Relationship Type="http://schemas.openxmlformats.org/officeDocument/2006/relationships/notesMaster" Target="/ppt/notesMasters/notesMaster1.xml" Id="Rc19c9d387d3942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590411ab364817" /><Relationship Type="http://schemas.openxmlformats.org/officeDocument/2006/relationships/notesMaster" Target="/ppt/notesMasters/notesMaster1.xml" Id="Rb016d68f09f04a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FD module as a complete local demonstration and a portfolio-ready base. Emphasize that the professor can run it without paid services or cloud credentials.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measured evidence. The production audit excludes development-server packages because Nginx serves the compiled application in the runtime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FD service publishes versioned events only after database commit. The notification consumer has an independent consumer group and event ID idempotency. Mailpit is the free local delivery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lifecycle. The time-travel endpoint advances the business date only, so the demonstration never changes the professor's computer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why a single two-decimal rule is incorrect. JPY has no fractional unit in normal use, while KWD commonly needs three decimal places.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JWT claims, BCrypt hashes and method-level roles. The ownership guard also protects detail, transaction, statement and withdrawal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Mailpit during the live demo and show the generated message. Then download the CSV and PDF from the report service through the gateway.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live smoke sequence: login as three roles, list seven-currency products, create an INR account, verify the opening transaction, run interest, capture email and download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integration repository has contracts but no runnable service code. Use docs/INTEGRATION.md during team alignment. Confirm payloads before implementing adapters.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MySQL, Kafka, report and notification ports stay internal. The public demo ports are 4200, 9090, 8080, 29092 and 8025.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current lab result from the later production roadmap. The code remains cloud-neutral; Azure is an option rather than a hard dependency.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showing the repository and invite questions about the lifecycle, integration contract or scale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fa03dd1d3d46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6b97c5071c4cbc" /><Relationship Type="http://schemas.openxmlformats.org/officeDocument/2006/relationships/slideLayout" Target="/ppt/slideLayouts/slideLayout1.xml" Id="R33bf5739fbf545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bf5739fbf545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85a78cc052400e" /><Relationship Type="http://schemas.openxmlformats.org/officeDocument/2006/relationships/notesSlide" Target="/ppt/notesSlides/notesSlide1.xml" Id="Ra579636c732645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9f66e5e6e740e2" /><Relationship Type="http://schemas.openxmlformats.org/officeDocument/2006/relationships/notesSlide" Target="/ppt/notesSlides/notesSlide2.xml" Id="R39e9beeb577a47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f5a5d8d3f74a3a" /><Relationship Type="http://schemas.openxmlformats.org/officeDocument/2006/relationships/notesSlide" Target="/ppt/notesSlides/notesSlide3.xml" Id="R69c857479af24e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7ed756ea504a87" /><Relationship Type="http://schemas.openxmlformats.org/officeDocument/2006/relationships/notesSlide" Target="/ppt/notesSlides/notesSlide4.xml" Id="Rbac3c302596e4c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a9e81a95314fe8" /><Relationship Type="http://schemas.openxmlformats.org/officeDocument/2006/relationships/notesSlide" Target="/ppt/notesSlides/notesSlide5.xml" Id="R49b5683212d844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24fa936c434d68" /><Relationship Type="http://schemas.openxmlformats.org/officeDocument/2006/relationships/notesSlide" Target="/ppt/notesSlides/notesSlide6.xml" Id="Rab79430275fd43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18258b6d8e46a7" /><Relationship Type="http://schemas.openxmlformats.org/officeDocument/2006/relationships/notesSlide" Target="/ppt/notesSlides/notesSlide7.xml" Id="Rf540558053bc4e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2af03fa9b4426c" /><Relationship Type="http://schemas.openxmlformats.org/officeDocument/2006/relationships/notesSlide" Target="/ppt/notesSlides/notesSlide8.xml" Id="Re9421bfc339040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e7cd31bb9b45de" /><Relationship Type="http://schemas.openxmlformats.org/officeDocument/2006/relationships/notesSlide" Target="/ppt/notesSlides/notesSlide9.xml" Id="R8e5d19ecdd8640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e3a4052c4e4c32" /><Relationship Type="http://schemas.openxmlformats.org/officeDocument/2006/relationships/notesSlide" Target="/ppt/notesSlides/notesSlide10.xml" Id="R0e654b5aff1b4d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ae5fa4a1fd4a59" /><Relationship Type="http://schemas.openxmlformats.org/officeDocument/2006/relationships/notesSlide" Target="/ppt/notesSlides/notesSlide11.xml" Id="Rb3a7f5ee72f546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c5437fd63b4d4c" /><Relationship Type="http://schemas.openxmlformats.org/officeDocument/2006/relationships/notesSlide" Target="/ppt/notesSlides/notesSlide12.xml" Id="Rdc5209fcd5d641d1" /></Relationships>
</file>

<file path=ppt/slides/slide1.xml><?xml version="1.0" encoding="utf-8"?>
<p:sld xmlns:p="http://schemas.openxmlformats.org/presentationml/2006/main">
  <p:cSld>
    <p:bg>
      <p:bgPr>
        <a:solidFill xmlns:a="http://schemas.openxmlformats.org/drawingml/2006/main">
          <a:srgbClr val="10253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749BF9-64C9-4584-B456-028FE654B606}"/>
              </a:ext>
            </a:extLst>
          </p:cNvPr>
          <p:cNvSpPr>
            <a:spLocks xmlns:a="http://schemas.openxmlformats.org/drawingml/2006/main" noGrp="1"/>
          </p:cNvSpPr>
          <p:nvPr/>
        </p:nvSpPr>
        <p:spPr>
          <a:xfrm xmlns:a="http://schemas.openxmlformats.org/drawingml/2006/main">
            <a:off x="647700" y="742950"/>
            <a:ext cx="114300" cy="4524375"/>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561342-C13B-4139-A5CD-AE553A339D8A}"/>
              </a:ext>
            </a:extLst>
          </p:cNvPr>
          <p:cNvSpPr>
            <a:spLocks xmlns:a="http://schemas.openxmlformats.org/drawingml/2006/main" noGrp="1"/>
          </p:cNvSpPr>
          <p:nvPr/>
        </p:nvSpPr>
        <p:spPr>
          <a:xfrm xmlns:a="http://schemas.openxmlformats.org/drawingml/2006/main">
            <a:off x="1066800" y="9334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9A62E"/>
                </a:solidFill>
                <a:latin typeface="Arial"/>
                <a:ea typeface="Arial"/>
                <a:cs typeface="Arial"/>
              </a:defRPr>
            </a:pPr>
            <a:r>
              <a:rPr sz="1350" b="1">
                <a:solidFill>
                  <a:srgbClr val="D9A62E"/>
                </a:solidFill>
                <a:latin typeface="Arial"/>
                <a:ea typeface="Arial"/>
                <a:cs typeface="Arial"/>
              </a:rPr>
              <a:t>FIXED DEPOSIT</a:t>
            </a:r>
          </a:p>
        </p:txBody>
      </p:sp>
      <p:sp>
        <p:nvSpPr>
          <p:cNvPr id="3" name="">
            <a:extLst xmlns:a="http://schemas.openxmlformats.org/drawingml/2006/main">
              <a:ext uri="{FF2B5EF4-FFF2-40B4-BE49-F238E27FC236}">
                <a16:creationId xmlns:a16="http://schemas.microsoft.com/office/drawing/2014/main" id="{2609E7A8-660F-42E2-8464-6F2DD4A89BE1}"/>
              </a:ext>
            </a:extLst>
          </p:cNvPr>
          <p:cNvSpPr>
            <a:spLocks xmlns:a="http://schemas.openxmlformats.org/drawingml/2006/main" noGrp="1"/>
          </p:cNvSpPr>
          <p:nvPr/>
        </p:nvSpPr>
        <p:spPr>
          <a:xfrm xmlns:a="http://schemas.openxmlformats.org/drawingml/2006/main">
            <a:off x="1066800" y="1447800"/>
            <a:ext cx="7239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Microservice</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Platform</a:t>
            </a:r>
          </a:p>
        </p:txBody>
      </p:sp>
      <p:sp>
        <p:nvSpPr>
          <p:cNvPr id="4" name="">
            <a:extLst xmlns:a="http://schemas.openxmlformats.org/drawingml/2006/main">
              <a:ext uri="{FF2B5EF4-FFF2-40B4-BE49-F238E27FC236}">
                <a16:creationId xmlns:a16="http://schemas.microsoft.com/office/drawing/2014/main" id="{4433EFA7-DE8B-4521-8750-17ADE0E9B51C}"/>
              </a:ext>
            </a:extLst>
          </p:cNvPr>
          <p:cNvSpPr>
            <a:spLocks xmlns:a="http://schemas.openxmlformats.org/drawingml/2006/main" noGrp="1"/>
          </p:cNvSpPr>
          <p:nvPr/>
        </p:nvSpPr>
        <p:spPr>
          <a:xfrm xmlns:a="http://schemas.openxmlformats.org/drawingml/2006/main">
            <a:off x="1066800" y="3429000"/>
            <a:ext cx="723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DDF2EE"/>
                </a:solidFill>
                <a:latin typeface="Arial"/>
                <a:ea typeface="Arial"/>
                <a:cs typeface="Arial"/>
              </a:defRPr>
            </a:pPr>
            <a:r>
              <a:rPr sz="1875" b="0">
                <a:solidFill>
                  <a:srgbClr val="DDF2EE"/>
                </a:solidFill>
                <a:latin typeface="Arial"/>
                <a:ea typeface="Arial"/>
                <a:cs typeface="Arial"/>
              </a:rPr>
              <a:t>Complete lab demonstration with a clear path to team integration and future scale</a:t>
            </a:r>
          </a:p>
        </p:txBody>
      </p:sp>
      <p:sp>
        <p:nvSpPr>
          <p:cNvPr id="5" name="">
            <a:extLst xmlns:a="http://schemas.openxmlformats.org/drawingml/2006/main">
              <a:ext uri="{FF2B5EF4-FFF2-40B4-BE49-F238E27FC236}">
                <a16:creationId xmlns:a16="http://schemas.microsoft.com/office/drawing/2014/main" id="{389E1C9A-F5B9-4879-A1C3-C21870A4CD7C}"/>
              </a:ext>
            </a:extLst>
          </p:cNvPr>
          <p:cNvSpPr>
            <a:spLocks xmlns:a="http://schemas.openxmlformats.org/drawingml/2006/main" noGrp="1"/>
          </p:cNvSpPr>
          <p:nvPr/>
        </p:nvSpPr>
        <p:spPr>
          <a:xfrm xmlns:a="http://schemas.openxmlformats.org/drawingml/2006/main">
            <a:off x="1066800" y="5581650"/>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Krishna Gupta  /  Group 9  /  Banking Technology Lab</a:t>
            </a:r>
          </a:p>
        </p:txBody>
      </p:sp>
      <p:sp>
        <p:nvSpPr>
          <p:cNvPr id="6" name="">
            <a:extLst xmlns:a="http://schemas.openxmlformats.org/drawingml/2006/main">
              <a:ext uri="{FF2B5EF4-FFF2-40B4-BE49-F238E27FC236}">
                <a16:creationId xmlns:a16="http://schemas.microsoft.com/office/drawing/2014/main" id="{53B00BD2-7A40-499C-BB84-0CA4805F4EF4}"/>
              </a:ext>
            </a:extLst>
          </p:cNvPr>
          <p:cNvSpPr>
            <a:spLocks xmlns:a="http://schemas.openxmlformats.org/drawingml/2006/main" noGrp="1"/>
          </p:cNvSpPr>
          <p:nvPr/>
        </p:nvSpPr>
        <p:spPr>
          <a:xfrm xmlns:a="http://schemas.openxmlformats.org/drawingml/2006/main">
            <a:off x="9620250" y="55816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75" b="0">
                <a:solidFill>
                  <a:srgbClr val="DDF2EE"/>
                </a:solidFill>
                <a:latin typeface="Arial"/>
                <a:ea typeface="Arial"/>
                <a:cs typeface="Arial"/>
              </a:defRPr>
            </a:pPr>
            <a:r>
              <a:rPr sz="1275" b="0">
                <a:solidFill>
                  <a:srgbClr val="DDF2EE"/>
                </a:solidFill>
                <a:latin typeface="Arial"/>
                <a:ea typeface="Arial"/>
                <a:cs typeface="Arial"/>
              </a:rPr>
              <a:t>September 2026</a:t>
            </a:r>
          </a:p>
        </p:txBody>
      </p:sp>
    </p:spTree>
    <p:extLst>
      <p:ext uri="{BB962C8B-B14F-4D97-AF65-F5344CB8AC3E}">
        <p14:creationId xmlns:p14="http://schemas.microsoft.com/office/powerpoint/2010/main" val="5635726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5D085BC-4B99-496C-8DAB-2D2F0A8C177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8B06E5-CE26-40A2-B9D0-82DF0F7C21F7}"/>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D7C75"/>
                </a:solidFill>
                <a:latin typeface="Arial"/>
                <a:ea typeface="Arial"/>
                <a:cs typeface="Arial"/>
              </a:defRPr>
            </a:pPr>
            <a:r>
              <a:rPr sz="1050" b="1">
                <a:solidFill>
                  <a:srgbClr val="0D7C75"/>
                </a:solidFill>
                <a:latin typeface="Arial"/>
                <a:ea typeface="Arial"/>
                <a:cs typeface="Arial"/>
              </a:rPr>
              <a:t>OUTCOME</a:t>
            </a:r>
          </a:p>
        </p:txBody>
      </p:sp>
      <p:sp>
        <p:nvSpPr>
          <p:cNvPr id="3" name="">
            <a:extLst xmlns:a="http://schemas.openxmlformats.org/drawingml/2006/main">
              <a:ext uri="{FF2B5EF4-FFF2-40B4-BE49-F238E27FC236}">
                <a16:creationId xmlns:a16="http://schemas.microsoft.com/office/drawing/2014/main" id="{6D6331BF-46AF-49F8-A18C-142D2E666E6C}"/>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53F"/>
                </a:solidFill>
                <a:latin typeface="Arial"/>
                <a:ea typeface="Arial"/>
                <a:cs typeface="Arial"/>
              </a:defRPr>
            </a:pPr>
            <a:r>
              <a:rPr sz="2850" b="1">
                <a:solidFill>
                  <a:srgbClr val="10253F"/>
                </a:solidFill>
                <a:latin typeface="Arial"/>
                <a:ea typeface="Arial"/>
                <a:cs typeface="Arial"/>
              </a:rPr>
              <a:t>What the submission delivers</a:t>
            </a:r>
          </a:p>
        </p:txBody>
      </p:sp>
      <p:sp>
        <p:nvSpPr>
          <p:cNvPr id="4" name="">
            <a:extLst xmlns:a="http://schemas.openxmlformats.org/drawingml/2006/main">
              <a:ext uri="{FF2B5EF4-FFF2-40B4-BE49-F238E27FC236}">
                <a16:creationId xmlns:a16="http://schemas.microsoft.com/office/drawing/2014/main" id="{6EB8FD83-123D-4A1A-8769-9C4B33B35EB5}"/>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D7C75"/>
                </a:solidFill>
                <a:latin typeface="Arial"/>
                <a:ea typeface="Arial"/>
                <a:cs typeface="Arial"/>
              </a:defRPr>
            </a:pPr>
            <a:r>
              <a:rPr sz="1125" b="1">
                <a:solidFill>
                  <a:srgbClr val="0D7C7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BDCDC3C-65C2-4C4C-8262-DA17034B0E35}"/>
              </a:ext>
            </a:extLst>
          </p:cNvPr>
          <p:cNvSpPr>
            <a:spLocks xmlns:a="http://schemas.openxmlformats.org/drawingml/2006/main" noGrp="1"/>
          </p:cNvSpPr>
          <p:nvPr/>
        </p:nvSpPr>
        <p:spPr>
          <a:xfrm xmlns:a="http://schemas.openxmlformats.org/drawingml/2006/main">
            <a:off x="666750" y="1619250"/>
            <a:ext cx="161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5550" b="1">
                <a:solidFill>
                  <a:srgbClr val="0D7C75"/>
                </a:solidFill>
                <a:latin typeface="Arial"/>
                <a:ea typeface="Arial"/>
                <a:cs typeface="Arial"/>
              </a:defRPr>
            </a:pPr>
            <a:r>
              <a:rPr sz="5550" b="1">
                <a:solidFill>
                  <a:srgbClr val="0D7C75"/>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2EAEFE7C-B3E9-4C22-857B-72F953363CA0}"/>
              </a:ext>
            </a:extLst>
          </p:cNvPr>
          <p:cNvSpPr>
            <a:spLocks xmlns:a="http://schemas.openxmlformats.org/drawingml/2006/main" noGrp="1"/>
          </p:cNvSpPr>
          <p:nvPr/>
        </p:nvSpPr>
        <p:spPr>
          <a:xfrm xmlns:a="http://schemas.openxmlformats.org/drawingml/2006/main">
            <a:off x="685800" y="2628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63746"/>
                </a:solidFill>
                <a:latin typeface="Arial"/>
                <a:ea typeface="Arial"/>
                <a:cs typeface="Arial"/>
              </a:defRPr>
            </a:pPr>
            <a:r>
              <a:rPr sz="1500" b="1">
                <a:solidFill>
                  <a:srgbClr val="263746"/>
                </a:solidFill>
                <a:latin typeface="Arial"/>
                <a:ea typeface="Arial"/>
                <a:cs typeface="Arial"/>
              </a:rPr>
              <a:t>healthy containers</a:t>
            </a:r>
          </a:p>
        </p:txBody>
      </p:sp>
      <p:sp>
        <p:nvSpPr>
          <p:cNvPr id="7" name="">
            <a:extLst xmlns:a="http://schemas.openxmlformats.org/drawingml/2006/main">
              <a:ext uri="{FF2B5EF4-FFF2-40B4-BE49-F238E27FC236}">
                <a16:creationId xmlns:a16="http://schemas.microsoft.com/office/drawing/2014/main" id="{52C1E94A-9BAE-4CE1-AD12-885BC05CB6A8}"/>
              </a:ext>
            </a:extLst>
          </p:cNvPr>
          <p:cNvSpPr>
            <a:spLocks xmlns:a="http://schemas.openxmlformats.org/drawingml/2006/main" noGrp="1"/>
          </p:cNvSpPr>
          <p:nvPr/>
        </p:nvSpPr>
        <p:spPr>
          <a:xfrm xmlns:a="http://schemas.openxmlformats.org/drawingml/2006/main">
            <a:off x="3238500" y="1619250"/>
            <a:ext cx="161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5550" b="1">
                <a:solidFill>
                  <a:srgbClr val="D9A62E"/>
                </a:solidFill>
                <a:latin typeface="Arial"/>
                <a:ea typeface="Arial"/>
                <a:cs typeface="Arial"/>
              </a:defRPr>
            </a:pPr>
            <a:r>
              <a:rPr sz="5550" b="1">
                <a:solidFill>
                  <a:srgbClr val="D9A62E"/>
                </a:solidFill>
                <a:latin typeface="Arial"/>
                <a:ea typeface="Arial"/>
                <a:cs typeface="Arial"/>
              </a:rPr>
              <a:t>7</a:t>
            </a:r>
          </a:p>
        </p:txBody>
      </p:sp>
      <p:sp>
        <p:nvSpPr>
          <p:cNvPr id="8" name="">
            <a:extLst xmlns:a="http://schemas.openxmlformats.org/drawingml/2006/main">
              <a:ext uri="{FF2B5EF4-FFF2-40B4-BE49-F238E27FC236}">
                <a16:creationId xmlns:a16="http://schemas.microsoft.com/office/drawing/2014/main" id="{D8F247EB-BC0F-413F-9A4F-B2BBDE184B74}"/>
              </a:ext>
            </a:extLst>
          </p:cNvPr>
          <p:cNvSpPr>
            <a:spLocks xmlns:a="http://schemas.openxmlformats.org/drawingml/2006/main" noGrp="1"/>
          </p:cNvSpPr>
          <p:nvPr/>
        </p:nvSpPr>
        <p:spPr>
          <a:xfrm xmlns:a="http://schemas.openxmlformats.org/drawingml/2006/main">
            <a:off x="3257550" y="26289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63746"/>
                </a:solidFill>
                <a:latin typeface="Arial"/>
                <a:ea typeface="Arial"/>
                <a:cs typeface="Arial"/>
              </a:defRPr>
            </a:pPr>
            <a:r>
              <a:rPr sz="1500" b="1">
                <a:solidFill>
                  <a:srgbClr val="263746"/>
                </a:solidFill>
                <a:latin typeface="Arial"/>
                <a:ea typeface="Arial"/>
                <a:cs typeface="Arial"/>
              </a:rPr>
              <a:t>supported currencies</a:t>
            </a:r>
          </a:p>
        </p:txBody>
      </p:sp>
      <p:sp>
        <p:nvSpPr>
          <p:cNvPr id="9" name="">
            <a:extLst xmlns:a="http://schemas.openxmlformats.org/drawingml/2006/main">
              <a:ext uri="{FF2B5EF4-FFF2-40B4-BE49-F238E27FC236}">
                <a16:creationId xmlns:a16="http://schemas.microsoft.com/office/drawing/2014/main" id="{E2ED8363-EDBA-44A5-8843-70A120DDD03D}"/>
              </a:ext>
            </a:extLst>
          </p:cNvPr>
          <p:cNvSpPr>
            <a:spLocks xmlns:a="http://schemas.openxmlformats.org/drawingml/2006/main" noGrp="1"/>
          </p:cNvSpPr>
          <p:nvPr/>
        </p:nvSpPr>
        <p:spPr>
          <a:xfrm xmlns:a="http://schemas.openxmlformats.org/drawingml/2006/main">
            <a:off x="6096000" y="161925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5550" b="1">
                <a:solidFill>
                  <a:srgbClr val="0D7C75"/>
                </a:solidFill>
                <a:latin typeface="Arial"/>
                <a:ea typeface="Arial"/>
                <a:cs typeface="Arial"/>
              </a:defRPr>
            </a:pPr>
            <a:r>
              <a:rPr sz="5550" b="1">
                <a:solidFill>
                  <a:srgbClr val="0D7C75"/>
                </a:solidFill>
                <a:latin typeface="Arial"/>
                <a:ea typeface="Arial"/>
                <a:cs typeface="Arial"/>
              </a:rPr>
              <a:t>27</a:t>
            </a:r>
          </a:p>
        </p:txBody>
      </p:sp>
      <p:sp>
        <p:nvSpPr>
          <p:cNvPr id="10" name="">
            <a:extLst xmlns:a="http://schemas.openxmlformats.org/drawingml/2006/main">
              <a:ext uri="{FF2B5EF4-FFF2-40B4-BE49-F238E27FC236}">
                <a16:creationId xmlns:a16="http://schemas.microsoft.com/office/drawing/2014/main" id="{B9B0F70F-89AE-43AE-9857-F2E7BCB27D38}"/>
              </a:ext>
            </a:extLst>
          </p:cNvPr>
          <p:cNvSpPr>
            <a:spLocks xmlns:a="http://schemas.openxmlformats.org/drawingml/2006/main" noGrp="1"/>
          </p:cNvSpPr>
          <p:nvPr/>
        </p:nvSpPr>
        <p:spPr>
          <a:xfrm xmlns:a="http://schemas.openxmlformats.org/drawingml/2006/main">
            <a:off x="6115050" y="26289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63746"/>
                </a:solidFill>
                <a:latin typeface="Arial"/>
                <a:ea typeface="Arial"/>
                <a:cs typeface="Arial"/>
              </a:defRPr>
            </a:pPr>
            <a:r>
              <a:rPr sz="1500" b="1">
                <a:solidFill>
                  <a:srgbClr val="263746"/>
                </a:solidFill>
                <a:latin typeface="Arial"/>
                <a:ea typeface="Arial"/>
                <a:cs typeface="Arial"/>
              </a:rPr>
              <a:t>backend tests passed</a:t>
            </a:r>
          </a:p>
        </p:txBody>
      </p:sp>
      <p:sp>
        <p:nvSpPr>
          <p:cNvPr id="11" name="">
            <a:extLst xmlns:a="http://schemas.openxmlformats.org/drawingml/2006/main">
              <a:ext uri="{FF2B5EF4-FFF2-40B4-BE49-F238E27FC236}">
                <a16:creationId xmlns:a16="http://schemas.microsoft.com/office/drawing/2014/main" id="{16D67E8F-29EA-48FC-9C58-A389733EE4E1}"/>
              </a:ext>
            </a:extLst>
          </p:cNvPr>
          <p:cNvSpPr>
            <a:spLocks xmlns:a="http://schemas.openxmlformats.org/drawingml/2006/main" noGrp="1"/>
          </p:cNvSpPr>
          <p:nvPr/>
        </p:nvSpPr>
        <p:spPr>
          <a:xfrm xmlns:a="http://schemas.openxmlformats.org/drawingml/2006/main">
            <a:off x="9144000" y="1619250"/>
            <a:ext cx="161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5550" b="1">
                <a:solidFill>
                  <a:srgbClr val="D9A62E"/>
                </a:solidFill>
                <a:latin typeface="Arial"/>
                <a:ea typeface="Arial"/>
                <a:cs typeface="Arial"/>
              </a:defRPr>
            </a:pPr>
            <a:r>
              <a:rPr sz="5550" b="1">
                <a:solidFill>
                  <a:srgbClr val="D9A62E"/>
                </a:solidFill>
                <a:latin typeface="Arial"/>
                <a:ea typeface="Arial"/>
                <a:cs typeface="Arial"/>
              </a:rPr>
              <a:t>0</a:t>
            </a:r>
          </a:p>
        </p:txBody>
      </p:sp>
      <p:sp>
        <p:nvSpPr>
          <p:cNvPr id="12" name="">
            <a:extLst xmlns:a="http://schemas.openxmlformats.org/drawingml/2006/main">
              <a:ext uri="{FF2B5EF4-FFF2-40B4-BE49-F238E27FC236}">
                <a16:creationId xmlns:a16="http://schemas.microsoft.com/office/drawing/2014/main" id="{0B4F4D91-773F-43A2-A768-CE72E2E83AB3}"/>
              </a:ext>
            </a:extLst>
          </p:cNvPr>
          <p:cNvSpPr>
            <a:spLocks xmlns:a="http://schemas.openxmlformats.org/drawingml/2006/main" noGrp="1"/>
          </p:cNvSpPr>
          <p:nvPr/>
        </p:nvSpPr>
        <p:spPr>
          <a:xfrm xmlns:a="http://schemas.openxmlformats.org/drawingml/2006/main">
            <a:off x="9163050" y="262890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17"/>
          </a:bodyPr>
          <a:lstStyle xmlns:a="http://schemas.openxmlformats.org/drawingml/2006/main"/>
          <a:p xmlns:a="http://schemas.openxmlformats.org/drawingml/2006/main">
            <a:pPr algn="l">
              <a:defRPr sz="1500" b="1">
                <a:solidFill>
                  <a:srgbClr val="263746"/>
                </a:solidFill>
                <a:latin typeface="Arial"/>
                <a:ea typeface="Arial"/>
                <a:cs typeface="Arial"/>
              </a:defRPr>
            </a:pPr>
            <a:r>
              <a:rPr sz="1500" b="1">
                <a:solidFill>
                  <a:srgbClr val="263746"/>
                </a:solidFill>
                <a:latin typeface="Arial"/>
                <a:ea typeface="Arial"/>
                <a:cs typeface="Arial"/>
              </a:rPr>
              <a:t>production npm findings</a:t>
            </a:r>
          </a:p>
        </p:txBody>
      </p:sp>
      <p:sp>
        <p:nvSpPr>
          <p:cNvPr id="13" name="">
            <a:extLst xmlns:a="http://schemas.openxmlformats.org/drawingml/2006/main">
              <a:ext uri="{FF2B5EF4-FFF2-40B4-BE49-F238E27FC236}">
                <a16:creationId xmlns:a16="http://schemas.microsoft.com/office/drawing/2014/main" id="{FF141E67-865F-43A3-AE52-2A4BD7431069}"/>
              </a:ext>
            </a:extLst>
          </p:cNvPr>
          <p:cNvSpPr>
            <a:spLocks xmlns:a="http://schemas.openxmlformats.org/drawingml/2006/main" noGrp="1"/>
          </p:cNvSpPr>
          <p:nvPr/>
        </p:nvSpPr>
        <p:spPr>
          <a:xfrm xmlns:a="http://schemas.openxmlformats.org/drawingml/2006/main">
            <a:off x="666750" y="3524250"/>
            <a:ext cx="10382250" cy="19050"/>
          </a:xfrm>
          <a:prstGeom xmlns:a="http://schemas.openxmlformats.org/drawingml/2006/main" prst="rect">
            <a:avLst/>
          </a:prstGeom>
          <a:solidFill xmlns:a="http://schemas.openxmlformats.org/drawingml/2006/main">
            <a:srgbClr val="DDF2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67391A-8BA1-4F2D-A1B2-BF642243DB9A}"/>
              </a:ext>
            </a:extLst>
          </p:cNvPr>
          <p:cNvSpPr>
            <a:spLocks xmlns:a="http://schemas.openxmlformats.org/drawingml/2006/main" noGrp="1"/>
          </p:cNvSpPr>
          <p:nvPr/>
        </p:nvSpPr>
        <p:spPr>
          <a:xfrm xmlns:a="http://schemas.openxmlformats.org/drawingml/2006/main">
            <a:off x="762000" y="39814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B705DF-B7C1-46F9-85DC-8627B80AEB6E}"/>
              </a:ext>
            </a:extLst>
          </p:cNvPr>
          <p:cNvSpPr>
            <a:spLocks xmlns:a="http://schemas.openxmlformats.org/drawingml/2006/main" noGrp="1"/>
          </p:cNvSpPr>
          <p:nvPr/>
        </p:nvSpPr>
        <p:spPr>
          <a:xfrm xmlns:a="http://schemas.openxmlformats.org/drawingml/2006/main">
            <a:off x="1028700" y="38671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Full FD lifecycle from account creation to payout or premature closure</a:t>
            </a:r>
          </a:p>
        </p:txBody>
      </p:sp>
      <p:sp>
        <p:nvSpPr>
          <p:cNvPr id="16" name="">
            <a:extLst xmlns:a="http://schemas.openxmlformats.org/drawingml/2006/main">
              <a:ext uri="{FF2B5EF4-FFF2-40B4-BE49-F238E27FC236}">
                <a16:creationId xmlns:a16="http://schemas.microsoft.com/office/drawing/2014/main" id="{86A02C13-C840-4E28-BC0B-DEF2CA952817}"/>
              </a:ext>
            </a:extLst>
          </p:cNvPr>
          <p:cNvSpPr>
            <a:spLocks xmlns:a="http://schemas.openxmlformats.org/drawingml/2006/main" noGrp="1"/>
          </p:cNvSpPr>
          <p:nvPr/>
        </p:nvSpPr>
        <p:spPr>
          <a:xfrm xmlns:a="http://schemas.openxmlformats.org/drawingml/2006/main">
            <a:off x="762000" y="461010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E72C7F-6FAB-4F8B-8906-C22C19614BD7}"/>
              </a:ext>
            </a:extLst>
          </p:cNvPr>
          <p:cNvSpPr>
            <a:spLocks xmlns:a="http://schemas.openxmlformats.org/drawingml/2006/main" noGrp="1"/>
          </p:cNvSpPr>
          <p:nvPr/>
        </p:nvSpPr>
        <p:spPr>
          <a:xfrm xmlns:a="http://schemas.openxmlformats.org/drawingml/2006/main">
            <a:off x="1028700" y="44958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Role-aware Angular interface with JWT access through one API gateway</a:t>
            </a:r>
          </a:p>
        </p:txBody>
      </p:sp>
      <p:sp>
        <p:nvSpPr>
          <p:cNvPr id="18" name="">
            <a:extLst xmlns:a="http://schemas.openxmlformats.org/drawingml/2006/main">
              <a:ext uri="{FF2B5EF4-FFF2-40B4-BE49-F238E27FC236}">
                <a16:creationId xmlns:a16="http://schemas.microsoft.com/office/drawing/2014/main" id="{80DE8BB7-C56E-4107-A009-BED6A0648615}"/>
              </a:ext>
            </a:extLst>
          </p:cNvPr>
          <p:cNvSpPr>
            <a:spLocks xmlns:a="http://schemas.openxmlformats.org/drawingml/2006/main" noGrp="1"/>
          </p:cNvSpPr>
          <p:nvPr/>
        </p:nvSpPr>
        <p:spPr>
          <a:xfrm xmlns:a="http://schemas.openxmlformats.org/drawingml/2006/main">
            <a:off x="762000" y="52387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9B0CA7-7E3F-479C-9961-38633EFE0F44}"/>
              </a:ext>
            </a:extLst>
          </p:cNvPr>
          <p:cNvSpPr>
            <a:spLocks xmlns:a="http://schemas.openxmlformats.org/drawingml/2006/main" noGrp="1"/>
          </p:cNvSpPr>
          <p:nvPr/>
        </p:nvSpPr>
        <p:spPr>
          <a:xfrm xmlns:a="http://schemas.openxmlformats.org/drawingml/2006/main">
            <a:off x="1028700" y="51244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CSV, PDF and chart reporting plus free local email proof in Mailpit</a:t>
            </a:r>
          </a:p>
        </p:txBody>
      </p:sp>
    </p:spTree>
    <p:extLst>
      <p:ext uri="{BB962C8B-B14F-4D97-AF65-F5344CB8AC3E}">
        <p14:creationId xmlns:p14="http://schemas.microsoft.com/office/powerpoint/2010/main" val="1467076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85A314A-A89F-4815-AA49-F94BDD33DF9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16B40E-10DD-4C28-BBD9-6A851321F528}"/>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D7C75"/>
                </a:solidFill>
                <a:latin typeface="Arial"/>
                <a:ea typeface="Arial"/>
                <a:cs typeface="Arial"/>
              </a:defRPr>
            </a:pPr>
            <a:r>
              <a:rPr sz="1050" b="1">
                <a:solidFill>
                  <a:srgbClr val="0D7C75"/>
                </a:solidFill>
                <a:latin typeface="Arial"/>
                <a:ea typeface="Arial"/>
                <a:cs typeface="Arial"/>
              </a:rPr>
              <a:t>SYSTEM DESIGN</a:t>
            </a:r>
          </a:p>
        </p:txBody>
      </p:sp>
      <p:sp>
        <p:nvSpPr>
          <p:cNvPr id="3" name="">
            <a:extLst xmlns:a="http://schemas.openxmlformats.org/drawingml/2006/main">
              <a:ext uri="{FF2B5EF4-FFF2-40B4-BE49-F238E27FC236}">
                <a16:creationId xmlns:a16="http://schemas.microsoft.com/office/drawing/2014/main" id="{1B1518CA-3A8C-4983-8952-DC6038F5159C}"/>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53F"/>
                </a:solidFill>
                <a:latin typeface="Arial"/>
                <a:ea typeface="Arial"/>
                <a:cs typeface="Arial"/>
              </a:defRPr>
            </a:pPr>
            <a:r>
              <a:rPr sz="2850" b="1">
                <a:solidFill>
                  <a:srgbClr val="10253F"/>
                </a:solidFill>
                <a:latin typeface="Arial"/>
                <a:ea typeface="Arial"/>
                <a:cs typeface="Arial"/>
              </a:rPr>
              <a:t>Service architecture</a:t>
            </a:r>
          </a:p>
        </p:txBody>
      </p:sp>
      <p:sp>
        <p:nvSpPr>
          <p:cNvPr id="4" name="">
            <a:extLst xmlns:a="http://schemas.openxmlformats.org/drawingml/2006/main">
              <a:ext uri="{FF2B5EF4-FFF2-40B4-BE49-F238E27FC236}">
                <a16:creationId xmlns:a16="http://schemas.microsoft.com/office/drawing/2014/main" id="{24485837-1EC9-45C0-95A3-37969EB18796}"/>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D7C75"/>
                </a:solidFill>
                <a:latin typeface="Arial"/>
                <a:ea typeface="Arial"/>
                <a:cs typeface="Arial"/>
              </a:defRPr>
            </a:pPr>
            <a:r>
              <a:rPr sz="1125" b="1">
                <a:solidFill>
                  <a:srgbClr val="0D7C7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6D8C5FA-D943-4609-9D06-A8B695D4DB29}"/>
              </a:ext>
            </a:extLst>
          </p:cNvPr>
          <p:cNvSpPr>
            <a:spLocks xmlns:a="http://schemas.openxmlformats.org/drawingml/2006/main" noGrp="1"/>
          </p:cNvSpPr>
          <p:nvPr/>
        </p:nvSpPr>
        <p:spPr>
          <a:xfrm xmlns:a="http://schemas.openxmlformats.org/drawingml/2006/main">
            <a:off x="619125" y="2114550"/>
            <a:ext cx="1666875" cy="1066800"/>
          </a:xfrm>
          <a:prstGeom xmlns:a="http://schemas.openxmlformats.org/drawingml/2006/main" prst="roundRect">
            <a:avLst>
              <a:gd name="adj" fmla="val 7143"/>
            </a:avLst>
          </a:prstGeom>
          <a:solidFill xmlns:a="http://schemas.openxmlformats.org/drawingml/2006/main">
            <a:srgbClr val="DDF2EE"/>
          </a:solidFill>
          <a:ln xmlns:a="http://schemas.openxmlformats.org/drawingml/2006/main" w="9525">
            <a:solidFill>
              <a:srgbClr val="0D7C75"/>
            </a:solidFill>
          </a:ln>
        </p:spPr>
      </p:sp>
      <p:sp>
        <p:nvSpPr>
          <p:cNvPr id="6" name="">
            <a:extLst xmlns:a="http://schemas.openxmlformats.org/drawingml/2006/main">
              <a:ext uri="{FF2B5EF4-FFF2-40B4-BE49-F238E27FC236}">
                <a16:creationId xmlns:a16="http://schemas.microsoft.com/office/drawing/2014/main" id="{A51007F3-CE2D-4B3E-A609-597214E1525F}"/>
              </a:ext>
            </a:extLst>
          </p:cNvPr>
          <p:cNvSpPr>
            <a:spLocks xmlns:a="http://schemas.openxmlformats.org/drawingml/2006/main" noGrp="1"/>
          </p:cNvSpPr>
          <p:nvPr/>
        </p:nvSpPr>
        <p:spPr>
          <a:xfrm xmlns:a="http://schemas.openxmlformats.org/drawingml/2006/main">
            <a:off x="752475" y="2305050"/>
            <a:ext cx="1400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0253F"/>
                </a:solidFill>
                <a:latin typeface="Arial"/>
                <a:ea typeface="Arial"/>
                <a:cs typeface="Arial"/>
              </a:defRPr>
            </a:pPr>
            <a:r>
              <a:rPr sz="1650" b="1">
                <a:solidFill>
                  <a:srgbClr val="10253F"/>
                </a:solidFill>
                <a:latin typeface="Arial"/>
                <a:ea typeface="Arial"/>
                <a:cs typeface="Arial"/>
              </a:rPr>
              <a:t>Angular UI</a:t>
            </a:r>
          </a:p>
        </p:txBody>
      </p:sp>
      <p:sp>
        <p:nvSpPr>
          <p:cNvPr id="7" name="">
            <a:extLst xmlns:a="http://schemas.openxmlformats.org/drawingml/2006/main">
              <a:ext uri="{FF2B5EF4-FFF2-40B4-BE49-F238E27FC236}">
                <a16:creationId xmlns:a16="http://schemas.microsoft.com/office/drawing/2014/main" id="{A15D7067-AEA2-49E9-A08F-8BD5B80C3A61}"/>
              </a:ext>
            </a:extLst>
          </p:cNvPr>
          <p:cNvSpPr>
            <a:spLocks xmlns:a="http://schemas.openxmlformats.org/drawingml/2006/main" noGrp="1"/>
          </p:cNvSpPr>
          <p:nvPr/>
        </p:nvSpPr>
        <p:spPr>
          <a:xfrm xmlns:a="http://schemas.openxmlformats.org/drawingml/2006/main">
            <a:off x="752475" y="2714625"/>
            <a:ext cx="1400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0">
                <a:solidFill>
                  <a:srgbClr val="0D7C75"/>
                </a:solidFill>
                <a:latin typeface="Arial"/>
                <a:ea typeface="Arial"/>
                <a:cs typeface="Arial"/>
              </a:defRPr>
            </a:pPr>
            <a:r>
              <a:rPr sz="1200" b="0">
                <a:solidFill>
                  <a:srgbClr val="0D7C75"/>
                </a:solidFill>
                <a:latin typeface="Arial"/>
                <a:ea typeface="Arial"/>
                <a:cs typeface="Arial"/>
              </a:rPr>
              <a:t>4200</a:t>
            </a:r>
          </a:p>
        </p:txBody>
      </p:sp>
      <p:sp>
        <p:nvSpPr>
          <p:cNvPr id="8" name="">
            <a:extLst xmlns:a="http://schemas.openxmlformats.org/drawingml/2006/main">
              <a:ext uri="{FF2B5EF4-FFF2-40B4-BE49-F238E27FC236}">
                <a16:creationId xmlns:a16="http://schemas.microsoft.com/office/drawing/2014/main" id="{7D7C1C9F-8F86-4CEF-BC70-76E13ED8A863}"/>
              </a:ext>
            </a:extLst>
          </p:cNvPr>
          <p:cNvSpPr>
            <a:spLocks xmlns:a="http://schemas.openxmlformats.org/drawingml/2006/main" noGrp="1"/>
          </p:cNvSpPr>
          <p:nvPr/>
        </p:nvSpPr>
        <p:spPr>
          <a:xfrm xmlns:a="http://schemas.openxmlformats.org/drawingml/2006/main">
            <a:off x="2714625" y="2114550"/>
            <a:ext cx="1666875" cy="1066800"/>
          </a:xfrm>
          <a:prstGeom xmlns:a="http://schemas.openxmlformats.org/drawingml/2006/main" prst="roundRect">
            <a:avLst>
              <a:gd name="adj" fmla="val 7143"/>
            </a:avLst>
          </a:prstGeom>
          <a:solidFill xmlns:a="http://schemas.openxmlformats.org/drawingml/2006/main">
            <a:srgbClr val="D9A62E"/>
          </a:solidFill>
          <a:ln xmlns:a="http://schemas.openxmlformats.org/drawingml/2006/main" w="9525">
            <a:solidFill>
              <a:srgbClr val="0D7C75"/>
            </a:solidFill>
          </a:ln>
        </p:spPr>
      </p:sp>
      <p:sp>
        <p:nvSpPr>
          <p:cNvPr id="9" name="">
            <a:extLst xmlns:a="http://schemas.openxmlformats.org/drawingml/2006/main">
              <a:ext uri="{FF2B5EF4-FFF2-40B4-BE49-F238E27FC236}">
                <a16:creationId xmlns:a16="http://schemas.microsoft.com/office/drawing/2014/main" id="{8B5C4DE4-B2D6-4827-8758-FB4A2772CF39}"/>
              </a:ext>
            </a:extLst>
          </p:cNvPr>
          <p:cNvSpPr>
            <a:spLocks xmlns:a="http://schemas.openxmlformats.org/drawingml/2006/main" noGrp="1"/>
          </p:cNvSpPr>
          <p:nvPr/>
        </p:nvSpPr>
        <p:spPr>
          <a:xfrm xmlns:a="http://schemas.openxmlformats.org/drawingml/2006/main">
            <a:off x="2847975" y="2305050"/>
            <a:ext cx="1400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70"/>
          </a:bodyPr>
          <a:lstStyle xmlns:a="http://schemas.openxmlformats.org/drawingml/2006/main"/>
          <a:p xmlns:a="http://schemas.openxmlformats.org/drawingml/2006/main">
            <a:pPr algn="ctr">
              <a:defRPr sz="1650" b="1">
                <a:solidFill>
                  <a:srgbClr val="10253F"/>
                </a:solidFill>
                <a:latin typeface="Arial"/>
                <a:ea typeface="Arial"/>
                <a:cs typeface="Arial"/>
              </a:defRPr>
            </a:pPr>
            <a:r>
              <a:rPr sz="1650" b="1">
                <a:solidFill>
                  <a:srgbClr val="10253F"/>
                </a:solidFill>
                <a:latin typeface="Arial"/>
                <a:ea typeface="Arial"/>
                <a:cs typeface="Arial"/>
              </a:rPr>
              <a:t>API Gateway</a:t>
            </a:r>
          </a:p>
        </p:txBody>
      </p:sp>
      <p:sp>
        <p:nvSpPr>
          <p:cNvPr id="10" name="">
            <a:extLst xmlns:a="http://schemas.openxmlformats.org/drawingml/2006/main">
              <a:ext uri="{FF2B5EF4-FFF2-40B4-BE49-F238E27FC236}">
                <a16:creationId xmlns:a16="http://schemas.microsoft.com/office/drawing/2014/main" id="{3FCC0B44-DD82-4E64-A85E-0CF6BAF00A0D}"/>
              </a:ext>
            </a:extLst>
          </p:cNvPr>
          <p:cNvSpPr>
            <a:spLocks xmlns:a="http://schemas.openxmlformats.org/drawingml/2006/main" noGrp="1"/>
          </p:cNvSpPr>
          <p:nvPr/>
        </p:nvSpPr>
        <p:spPr>
          <a:xfrm xmlns:a="http://schemas.openxmlformats.org/drawingml/2006/main">
            <a:off x="2847975" y="2714625"/>
            <a:ext cx="1400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0">
                <a:solidFill>
                  <a:srgbClr val="0D7C75"/>
                </a:solidFill>
                <a:latin typeface="Arial"/>
                <a:ea typeface="Arial"/>
                <a:cs typeface="Arial"/>
              </a:defRPr>
            </a:pPr>
            <a:r>
              <a:rPr sz="1200" b="0">
                <a:solidFill>
                  <a:srgbClr val="0D7C75"/>
                </a:solidFill>
                <a:latin typeface="Arial"/>
                <a:ea typeface="Arial"/>
                <a:cs typeface="Arial"/>
              </a:rPr>
              <a:t>9090</a:t>
            </a:r>
          </a:p>
        </p:txBody>
      </p:sp>
      <p:sp>
        <p:nvSpPr>
          <p:cNvPr id="11" name="">
            <a:extLst xmlns:a="http://schemas.openxmlformats.org/drawingml/2006/main">
              <a:ext uri="{FF2B5EF4-FFF2-40B4-BE49-F238E27FC236}">
                <a16:creationId xmlns:a16="http://schemas.microsoft.com/office/drawing/2014/main" id="{2DA6ECB3-C375-471D-89F0-FC0FCE0B6151}"/>
              </a:ext>
            </a:extLst>
          </p:cNvPr>
          <p:cNvSpPr>
            <a:spLocks xmlns:a="http://schemas.openxmlformats.org/drawingml/2006/main" noGrp="1"/>
          </p:cNvSpPr>
          <p:nvPr/>
        </p:nvSpPr>
        <p:spPr>
          <a:xfrm xmlns:a="http://schemas.openxmlformats.org/drawingml/2006/main">
            <a:off x="5000625" y="2114550"/>
            <a:ext cx="1666875" cy="1066800"/>
          </a:xfrm>
          <a:prstGeom xmlns:a="http://schemas.openxmlformats.org/drawingml/2006/main" prst="roundRect">
            <a:avLst>
              <a:gd name="adj" fmla="val 7143"/>
            </a:avLst>
          </a:prstGeom>
          <a:solidFill xmlns:a="http://schemas.openxmlformats.org/drawingml/2006/main">
            <a:srgbClr val="DDF2EE"/>
          </a:solidFill>
          <a:ln xmlns:a="http://schemas.openxmlformats.org/drawingml/2006/main" w="9525">
            <a:solidFill>
              <a:srgbClr val="0D7C75"/>
            </a:solidFill>
          </a:ln>
        </p:spPr>
      </p:sp>
      <p:sp>
        <p:nvSpPr>
          <p:cNvPr id="12" name="">
            <a:extLst xmlns:a="http://schemas.openxmlformats.org/drawingml/2006/main">
              <a:ext uri="{FF2B5EF4-FFF2-40B4-BE49-F238E27FC236}">
                <a16:creationId xmlns:a16="http://schemas.microsoft.com/office/drawing/2014/main" id="{F77FBF8E-0FCF-41AB-B904-79C6F3E44AC0}"/>
              </a:ext>
            </a:extLst>
          </p:cNvPr>
          <p:cNvSpPr>
            <a:spLocks xmlns:a="http://schemas.openxmlformats.org/drawingml/2006/main" noGrp="1"/>
          </p:cNvSpPr>
          <p:nvPr/>
        </p:nvSpPr>
        <p:spPr>
          <a:xfrm xmlns:a="http://schemas.openxmlformats.org/drawingml/2006/main">
            <a:off x="5133975" y="2305050"/>
            <a:ext cx="1400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0253F"/>
                </a:solidFill>
                <a:latin typeface="Arial"/>
                <a:ea typeface="Arial"/>
                <a:cs typeface="Arial"/>
              </a:defRPr>
            </a:pPr>
            <a:r>
              <a:rPr sz="1650" b="1">
                <a:solidFill>
                  <a:srgbClr val="10253F"/>
                </a:solidFill>
                <a:latin typeface="Arial"/>
                <a:ea typeface="Arial"/>
                <a:cs typeface="Arial"/>
              </a:rPr>
              <a:t>FD Service</a:t>
            </a:r>
          </a:p>
        </p:txBody>
      </p:sp>
      <p:sp>
        <p:nvSpPr>
          <p:cNvPr id="13" name="">
            <a:extLst xmlns:a="http://schemas.openxmlformats.org/drawingml/2006/main">
              <a:ext uri="{FF2B5EF4-FFF2-40B4-BE49-F238E27FC236}">
                <a16:creationId xmlns:a16="http://schemas.microsoft.com/office/drawing/2014/main" id="{E1B56015-6654-4F02-94B1-91C36201BA34}"/>
              </a:ext>
            </a:extLst>
          </p:cNvPr>
          <p:cNvSpPr>
            <a:spLocks xmlns:a="http://schemas.openxmlformats.org/drawingml/2006/main" noGrp="1"/>
          </p:cNvSpPr>
          <p:nvPr/>
        </p:nvSpPr>
        <p:spPr>
          <a:xfrm xmlns:a="http://schemas.openxmlformats.org/drawingml/2006/main">
            <a:off x="5133975" y="2714625"/>
            <a:ext cx="1400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0">
                <a:solidFill>
                  <a:srgbClr val="0D7C75"/>
                </a:solidFill>
                <a:latin typeface="Arial"/>
                <a:ea typeface="Arial"/>
                <a:cs typeface="Arial"/>
              </a:defRPr>
            </a:pPr>
            <a:r>
              <a:rPr sz="1200" b="0">
                <a:solidFill>
                  <a:srgbClr val="0D7C75"/>
                </a:solidFill>
                <a:latin typeface="Arial"/>
                <a:ea typeface="Arial"/>
                <a:cs typeface="Arial"/>
              </a:rPr>
              <a:t>8080</a:t>
            </a:r>
          </a:p>
        </p:txBody>
      </p:sp>
      <p:sp>
        <p:nvSpPr>
          <p:cNvPr id="14" name="">
            <a:extLst xmlns:a="http://schemas.openxmlformats.org/drawingml/2006/main">
              <a:ext uri="{FF2B5EF4-FFF2-40B4-BE49-F238E27FC236}">
                <a16:creationId xmlns:a16="http://schemas.microsoft.com/office/drawing/2014/main" id="{F72A5267-8A50-4489-9838-ABD00A999BF3}"/>
              </a:ext>
            </a:extLst>
          </p:cNvPr>
          <p:cNvSpPr>
            <a:spLocks xmlns:a="http://schemas.openxmlformats.org/drawingml/2006/main" noGrp="1"/>
          </p:cNvSpPr>
          <p:nvPr/>
        </p:nvSpPr>
        <p:spPr>
          <a:xfrm xmlns:a="http://schemas.openxmlformats.org/drawingml/2006/main">
            <a:off x="7429500" y="2114550"/>
            <a:ext cx="1666875" cy="1066800"/>
          </a:xfrm>
          <a:prstGeom xmlns:a="http://schemas.openxmlformats.org/drawingml/2006/main" prst="roundRect">
            <a:avLst>
              <a:gd name="adj" fmla="val 7143"/>
            </a:avLst>
          </a:prstGeom>
          <a:solidFill xmlns:a="http://schemas.openxmlformats.org/drawingml/2006/main">
            <a:srgbClr val="F4F7F8"/>
          </a:solidFill>
          <a:ln xmlns:a="http://schemas.openxmlformats.org/drawingml/2006/main" w="9525">
            <a:solidFill>
              <a:srgbClr val="0D7C75"/>
            </a:solidFill>
          </a:ln>
        </p:spPr>
      </p:sp>
      <p:sp>
        <p:nvSpPr>
          <p:cNvPr id="15" name="">
            <a:extLst xmlns:a="http://schemas.openxmlformats.org/drawingml/2006/main">
              <a:ext uri="{FF2B5EF4-FFF2-40B4-BE49-F238E27FC236}">
                <a16:creationId xmlns:a16="http://schemas.microsoft.com/office/drawing/2014/main" id="{18253BFD-EA4C-41D0-A74F-24748456FD3D}"/>
              </a:ext>
            </a:extLst>
          </p:cNvPr>
          <p:cNvSpPr>
            <a:spLocks xmlns:a="http://schemas.openxmlformats.org/drawingml/2006/main" noGrp="1"/>
          </p:cNvSpPr>
          <p:nvPr/>
        </p:nvSpPr>
        <p:spPr>
          <a:xfrm xmlns:a="http://schemas.openxmlformats.org/drawingml/2006/main">
            <a:off x="7562850" y="2305050"/>
            <a:ext cx="1400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0253F"/>
                </a:solidFill>
                <a:latin typeface="Arial"/>
                <a:ea typeface="Arial"/>
                <a:cs typeface="Arial"/>
              </a:defRPr>
            </a:pPr>
            <a:r>
              <a:rPr sz="1650" b="1">
                <a:solidFill>
                  <a:srgbClr val="10253F"/>
                </a:solidFill>
                <a:latin typeface="Arial"/>
                <a:ea typeface="Arial"/>
                <a:cs typeface="Arial"/>
              </a:rPr>
              <a:t>MySQL</a:t>
            </a:r>
          </a:p>
        </p:txBody>
      </p:sp>
      <p:sp>
        <p:nvSpPr>
          <p:cNvPr id="16" name="">
            <a:extLst xmlns:a="http://schemas.openxmlformats.org/drawingml/2006/main">
              <a:ext uri="{FF2B5EF4-FFF2-40B4-BE49-F238E27FC236}">
                <a16:creationId xmlns:a16="http://schemas.microsoft.com/office/drawing/2014/main" id="{5A617D0B-70CE-426A-93BA-B9FAE73152EE}"/>
              </a:ext>
            </a:extLst>
          </p:cNvPr>
          <p:cNvSpPr>
            <a:spLocks xmlns:a="http://schemas.openxmlformats.org/drawingml/2006/main" noGrp="1"/>
          </p:cNvSpPr>
          <p:nvPr/>
        </p:nvSpPr>
        <p:spPr>
          <a:xfrm xmlns:a="http://schemas.openxmlformats.org/drawingml/2006/main">
            <a:off x="7562850" y="2714625"/>
            <a:ext cx="14001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0">
                <a:solidFill>
                  <a:srgbClr val="0D7C75"/>
                </a:solidFill>
                <a:latin typeface="Arial"/>
                <a:ea typeface="Arial"/>
                <a:cs typeface="Arial"/>
              </a:defRPr>
            </a:pPr>
            <a:r>
              <a:rPr sz="1200" b="0">
                <a:solidFill>
                  <a:srgbClr val="0D7C75"/>
                </a:solidFill>
                <a:latin typeface="Arial"/>
                <a:ea typeface="Arial"/>
                <a:cs typeface="Arial"/>
              </a:rPr>
              <a:t>internal</a:t>
            </a:r>
          </a:p>
        </p:txBody>
      </p:sp>
      <p:sp>
        <p:nvSpPr>
          <p:cNvPr id="17" name="">
            <a:extLst xmlns:a="http://schemas.openxmlformats.org/drawingml/2006/main">
              <a:ext uri="{FF2B5EF4-FFF2-40B4-BE49-F238E27FC236}">
                <a16:creationId xmlns:a16="http://schemas.microsoft.com/office/drawing/2014/main" id="{811F68CF-89BE-447C-B819-04D648C68501}"/>
              </a:ext>
            </a:extLst>
          </p:cNvPr>
          <p:cNvSpPr>
            <a:spLocks xmlns:a="http://schemas.openxmlformats.org/drawingml/2006/main" noGrp="1"/>
          </p:cNvSpPr>
          <p:nvPr/>
        </p:nvSpPr>
        <p:spPr>
          <a:xfrm xmlns:a="http://schemas.openxmlformats.org/drawingml/2006/main">
            <a:off x="2286000" y="2505075"/>
            <a:ext cx="457200" cy="285750"/>
          </a:xfrm>
          <a:prstGeom xmlns:a="http://schemas.openxmlformats.org/drawingml/2006/main" prst="roundRect">
            <a:avLst>
              <a:gd name="adj" fmla="val 26667"/>
            </a:avLst>
          </a:prstGeom>
          <a:solidFill xmlns:a="http://schemas.openxmlformats.org/drawingml/2006/main">
            <a:srgbClr val="0D7C75"/>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70676CF9-66CB-498D-BB59-F6BB4329C1C5}"/>
              </a:ext>
            </a:extLst>
          </p:cNvPr>
          <p:cNvSpPr>
            <a:spLocks xmlns:a="http://schemas.openxmlformats.org/drawingml/2006/main" noGrp="1"/>
          </p:cNvSpPr>
          <p:nvPr/>
        </p:nvSpPr>
        <p:spPr>
          <a:xfrm xmlns:a="http://schemas.openxmlformats.org/drawingml/2006/main">
            <a:off x="4476750" y="2505075"/>
            <a:ext cx="457200" cy="285750"/>
          </a:xfrm>
          <a:prstGeom xmlns:a="http://schemas.openxmlformats.org/drawingml/2006/main" prst="roundRect">
            <a:avLst>
              <a:gd name="adj" fmla="val 26667"/>
            </a:avLst>
          </a:prstGeom>
          <a:solidFill xmlns:a="http://schemas.openxmlformats.org/drawingml/2006/main">
            <a:srgbClr val="0D7C75"/>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3B8F602F-C26E-4585-A986-153238DE9272}"/>
              </a:ext>
            </a:extLst>
          </p:cNvPr>
          <p:cNvSpPr>
            <a:spLocks xmlns:a="http://schemas.openxmlformats.org/drawingml/2006/main" noGrp="1"/>
          </p:cNvSpPr>
          <p:nvPr/>
        </p:nvSpPr>
        <p:spPr>
          <a:xfrm xmlns:a="http://schemas.openxmlformats.org/drawingml/2006/main">
            <a:off x="6810375" y="2505075"/>
            <a:ext cx="457200" cy="285750"/>
          </a:xfrm>
          <a:prstGeom xmlns:a="http://schemas.openxmlformats.org/drawingml/2006/main" prst="roundRect">
            <a:avLst>
              <a:gd name="adj" fmla="val 26667"/>
            </a:avLst>
          </a:prstGeom>
          <a:solidFill xmlns:a="http://schemas.openxmlformats.org/drawingml/2006/main">
            <a:srgbClr val="0D7C75"/>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4D1EC4F9-66D5-444C-968F-0F816F8CA240}"/>
              </a:ext>
            </a:extLst>
          </p:cNvPr>
          <p:cNvSpPr>
            <a:spLocks xmlns:a="http://schemas.openxmlformats.org/drawingml/2006/main" noGrp="1"/>
          </p:cNvSpPr>
          <p:nvPr/>
        </p:nvSpPr>
        <p:spPr>
          <a:xfrm xmlns:a="http://schemas.openxmlformats.org/drawingml/2006/main">
            <a:off x="4000500" y="4095750"/>
            <a:ext cx="1666875" cy="1066800"/>
          </a:xfrm>
          <a:prstGeom xmlns:a="http://schemas.openxmlformats.org/drawingml/2006/main" prst="roundRect">
            <a:avLst>
              <a:gd name="adj" fmla="val 7143"/>
            </a:avLst>
          </a:prstGeom>
          <a:solidFill xmlns:a="http://schemas.openxmlformats.org/drawingml/2006/main">
            <a:srgbClr val="D9A62E"/>
          </a:solidFill>
          <a:ln xmlns:a="http://schemas.openxmlformats.org/drawingml/2006/main" w="9525">
            <a:solidFill>
              <a:srgbClr val="0D7C75"/>
            </a:solidFill>
          </a:ln>
        </p:spPr>
      </p:sp>
      <p:sp>
        <p:nvSpPr>
          <p:cNvPr id="21" name="">
            <a:extLst xmlns:a="http://schemas.openxmlformats.org/drawingml/2006/main">
              <a:ext uri="{FF2B5EF4-FFF2-40B4-BE49-F238E27FC236}">
                <a16:creationId xmlns:a16="http://schemas.microsoft.com/office/drawing/2014/main" id="{DF7AEF3D-01A7-454D-933A-A0B2DEAB1354}"/>
              </a:ext>
            </a:extLst>
          </p:cNvPr>
          <p:cNvSpPr>
            <a:spLocks xmlns:a="http://schemas.openxmlformats.org/drawingml/2006/main" noGrp="1"/>
          </p:cNvSpPr>
          <p:nvPr/>
        </p:nvSpPr>
        <p:spPr>
          <a:xfrm xmlns:a="http://schemas.openxmlformats.org/drawingml/2006/main">
            <a:off x="4143375" y="4286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74"/>
          </a:bodyPr>
          <a:lstStyle xmlns:a="http://schemas.openxmlformats.org/drawingml/2006/main"/>
          <a:p xmlns:a="http://schemas.openxmlformats.org/drawingml/2006/main">
            <a:pPr algn="ctr">
              <a:defRPr sz="1575" b="1">
                <a:solidFill>
                  <a:srgbClr val="10253F"/>
                </a:solidFill>
                <a:latin typeface="Arial"/>
                <a:ea typeface="Arial"/>
                <a:cs typeface="Arial"/>
              </a:defRPr>
            </a:pPr>
            <a:r>
              <a:rPr sz="1575" b="1">
                <a:solidFill>
                  <a:srgbClr val="10253F"/>
                </a:solidFill>
                <a:latin typeface="Arial"/>
                <a:ea typeface="Arial"/>
                <a:cs typeface="Arial"/>
              </a:rPr>
              <a:t>Report Service</a:t>
            </a:r>
          </a:p>
        </p:txBody>
      </p:sp>
      <p:sp>
        <p:nvSpPr>
          <p:cNvPr id="22" name="">
            <a:extLst xmlns:a="http://schemas.openxmlformats.org/drawingml/2006/main">
              <a:ext uri="{FF2B5EF4-FFF2-40B4-BE49-F238E27FC236}">
                <a16:creationId xmlns:a16="http://schemas.microsoft.com/office/drawing/2014/main" id="{8C0F5524-BC82-44FB-B682-422B3A17CF22}"/>
              </a:ext>
            </a:extLst>
          </p:cNvPr>
          <p:cNvSpPr>
            <a:spLocks xmlns:a="http://schemas.openxmlformats.org/drawingml/2006/main" noGrp="1"/>
          </p:cNvSpPr>
          <p:nvPr/>
        </p:nvSpPr>
        <p:spPr>
          <a:xfrm xmlns:a="http://schemas.openxmlformats.org/drawingml/2006/main">
            <a:off x="4143375" y="4695825"/>
            <a:ext cx="1381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0">
                <a:solidFill>
                  <a:srgbClr val="10253F"/>
                </a:solidFill>
                <a:latin typeface="Arial"/>
                <a:ea typeface="Arial"/>
                <a:cs typeface="Arial"/>
              </a:defRPr>
            </a:pPr>
            <a:r>
              <a:rPr sz="1200" b="0">
                <a:solidFill>
                  <a:srgbClr val="10253F"/>
                </a:solidFill>
                <a:latin typeface="Arial"/>
                <a:ea typeface="Arial"/>
                <a:cs typeface="Arial"/>
              </a:rPr>
              <a:t>5000</a:t>
            </a:r>
          </a:p>
        </p:txBody>
      </p:sp>
      <p:sp>
        <p:nvSpPr>
          <p:cNvPr id="23" name="">
            <a:extLst xmlns:a="http://schemas.openxmlformats.org/drawingml/2006/main">
              <a:ext uri="{FF2B5EF4-FFF2-40B4-BE49-F238E27FC236}">
                <a16:creationId xmlns:a16="http://schemas.microsoft.com/office/drawing/2014/main" id="{DD1C7EA5-1A1D-46AC-8227-9E82AD590C40}"/>
              </a:ext>
            </a:extLst>
          </p:cNvPr>
          <p:cNvSpPr>
            <a:spLocks xmlns:a="http://schemas.openxmlformats.org/drawingml/2006/main" noGrp="1"/>
          </p:cNvSpPr>
          <p:nvPr/>
        </p:nvSpPr>
        <p:spPr>
          <a:xfrm xmlns:a="http://schemas.openxmlformats.org/drawingml/2006/main">
            <a:off x="6048375" y="4095750"/>
            <a:ext cx="1666875" cy="1066800"/>
          </a:xfrm>
          <a:prstGeom xmlns:a="http://schemas.openxmlformats.org/drawingml/2006/main" prst="roundRect">
            <a:avLst>
              <a:gd name="adj" fmla="val 7143"/>
            </a:avLst>
          </a:prstGeom>
          <a:solidFill xmlns:a="http://schemas.openxmlformats.org/drawingml/2006/main">
            <a:srgbClr val="DDF2EE"/>
          </a:solidFill>
          <a:ln xmlns:a="http://schemas.openxmlformats.org/drawingml/2006/main" w="9525">
            <a:solidFill>
              <a:srgbClr val="0D7C75"/>
            </a:solidFill>
          </a:ln>
        </p:spPr>
      </p:sp>
      <p:sp>
        <p:nvSpPr>
          <p:cNvPr id="24" name="">
            <a:extLst xmlns:a="http://schemas.openxmlformats.org/drawingml/2006/main">
              <a:ext uri="{FF2B5EF4-FFF2-40B4-BE49-F238E27FC236}">
                <a16:creationId xmlns:a16="http://schemas.microsoft.com/office/drawing/2014/main" id="{F13BC9B1-1B93-462E-98B7-306DDEA8D954}"/>
              </a:ext>
            </a:extLst>
          </p:cNvPr>
          <p:cNvSpPr>
            <a:spLocks xmlns:a="http://schemas.openxmlformats.org/drawingml/2006/main" noGrp="1"/>
          </p:cNvSpPr>
          <p:nvPr/>
        </p:nvSpPr>
        <p:spPr>
          <a:xfrm xmlns:a="http://schemas.openxmlformats.org/drawingml/2006/main">
            <a:off x="6191250" y="4286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0253F"/>
                </a:solidFill>
                <a:latin typeface="Arial"/>
                <a:ea typeface="Arial"/>
                <a:cs typeface="Arial"/>
              </a:defRPr>
            </a:pPr>
            <a:r>
              <a:rPr sz="1650" b="1">
                <a:solidFill>
                  <a:srgbClr val="10253F"/>
                </a:solidFill>
                <a:latin typeface="Arial"/>
                <a:ea typeface="Arial"/>
                <a:cs typeface="Arial"/>
              </a:rPr>
              <a:t>Kafka</a:t>
            </a:r>
          </a:p>
        </p:txBody>
      </p:sp>
      <p:sp>
        <p:nvSpPr>
          <p:cNvPr id="25" name="">
            <a:extLst xmlns:a="http://schemas.openxmlformats.org/drawingml/2006/main">
              <a:ext uri="{FF2B5EF4-FFF2-40B4-BE49-F238E27FC236}">
                <a16:creationId xmlns:a16="http://schemas.microsoft.com/office/drawing/2014/main" id="{999569B8-37C5-40BB-B534-9893CA2DDBEC}"/>
              </a:ext>
            </a:extLst>
          </p:cNvPr>
          <p:cNvSpPr>
            <a:spLocks xmlns:a="http://schemas.openxmlformats.org/drawingml/2006/main" noGrp="1"/>
          </p:cNvSpPr>
          <p:nvPr/>
        </p:nvSpPr>
        <p:spPr>
          <a:xfrm xmlns:a="http://schemas.openxmlformats.org/drawingml/2006/main">
            <a:off x="6191250" y="4695825"/>
            <a:ext cx="1381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ctr">
              <a:defRPr sz="1125" b="0">
                <a:solidFill>
                  <a:srgbClr val="0D7C75"/>
                </a:solidFill>
                <a:latin typeface="Arial"/>
                <a:ea typeface="Arial"/>
                <a:cs typeface="Arial"/>
              </a:defRPr>
            </a:pPr>
            <a:r>
              <a:rPr sz="1125" b="0">
                <a:solidFill>
                  <a:srgbClr val="0D7C75"/>
                </a:solidFill>
                <a:latin typeface="Arial"/>
                <a:ea typeface="Arial"/>
                <a:cs typeface="Arial"/>
              </a:rPr>
              <a:t>fd.lifecycle.v1</a:t>
            </a:r>
          </a:p>
        </p:txBody>
      </p:sp>
      <p:sp>
        <p:nvSpPr>
          <p:cNvPr id="26" name="">
            <a:extLst xmlns:a="http://schemas.openxmlformats.org/drawingml/2006/main">
              <a:ext uri="{FF2B5EF4-FFF2-40B4-BE49-F238E27FC236}">
                <a16:creationId xmlns:a16="http://schemas.microsoft.com/office/drawing/2014/main" id="{26F70025-272B-496D-933C-05B8A5DA9495}"/>
              </a:ext>
            </a:extLst>
          </p:cNvPr>
          <p:cNvSpPr>
            <a:spLocks xmlns:a="http://schemas.openxmlformats.org/drawingml/2006/main" noGrp="1"/>
          </p:cNvSpPr>
          <p:nvPr/>
        </p:nvSpPr>
        <p:spPr>
          <a:xfrm xmlns:a="http://schemas.openxmlformats.org/drawingml/2006/main">
            <a:off x="8096250" y="4095750"/>
            <a:ext cx="1666875" cy="1066800"/>
          </a:xfrm>
          <a:prstGeom xmlns:a="http://schemas.openxmlformats.org/drawingml/2006/main" prst="roundRect">
            <a:avLst>
              <a:gd name="adj" fmla="val 7143"/>
            </a:avLst>
          </a:prstGeom>
          <a:solidFill xmlns:a="http://schemas.openxmlformats.org/drawingml/2006/main">
            <a:srgbClr val="D9A62E"/>
          </a:solidFill>
          <a:ln xmlns:a="http://schemas.openxmlformats.org/drawingml/2006/main" w="9525">
            <a:solidFill>
              <a:srgbClr val="0D7C75"/>
            </a:solidFill>
          </a:ln>
        </p:spPr>
      </p:sp>
      <p:sp>
        <p:nvSpPr>
          <p:cNvPr id="27" name="">
            <a:extLst xmlns:a="http://schemas.openxmlformats.org/drawingml/2006/main">
              <a:ext uri="{FF2B5EF4-FFF2-40B4-BE49-F238E27FC236}">
                <a16:creationId xmlns:a16="http://schemas.microsoft.com/office/drawing/2014/main" id="{D050DCE3-614C-418E-A43B-F93FA4A38342}"/>
              </a:ext>
            </a:extLst>
          </p:cNvPr>
          <p:cNvSpPr>
            <a:spLocks xmlns:a="http://schemas.openxmlformats.org/drawingml/2006/main" noGrp="1"/>
          </p:cNvSpPr>
          <p:nvPr/>
        </p:nvSpPr>
        <p:spPr>
          <a:xfrm xmlns:a="http://schemas.openxmlformats.org/drawingml/2006/main">
            <a:off x="8239125" y="4286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0253F"/>
                </a:solidFill>
                <a:latin typeface="Arial"/>
                <a:ea typeface="Arial"/>
                <a:cs typeface="Arial"/>
              </a:defRPr>
            </a:pPr>
            <a:r>
              <a:rPr sz="1500" b="1">
                <a:solidFill>
                  <a:srgbClr val="10253F"/>
                </a:solidFill>
                <a:latin typeface="Arial"/>
                <a:ea typeface="Arial"/>
                <a:cs typeface="Arial"/>
              </a:rPr>
              <a:t>Notification</a:t>
            </a:r>
          </a:p>
        </p:txBody>
      </p:sp>
      <p:sp>
        <p:nvSpPr>
          <p:cNvPr id="28" name="">
            <a:extLst xmlns:a="http://schemas.openxmlformats.org/drawingml/2006/main">
              <a:ext uri="{FF2B5EF4-FFF2-40B4-BE49-F238E27FC236}">
                <a16:creationId xmlns:a16="http://schemas.microsoft.com/office/drawing/2014/main" id="{2CFF0BB7-0284-4C51-82E7-DB2C11915B90}"/>
              </a:ext>
            </a:extLst>
          </p:cNvPr>
          <p:cNvSpPr>
            <a:spLocks xmlns:a="http://schemas.openxmlformats.org/drawingml/2006/main" noGrp="1"/>
          </p:cNvSpPr>
          <p:nvPr/>
        </p:nvSpPr>
        <p:spPr>
          <a:xfrm xmlns:a="http://schemas.openxmlformats.org/drawingml/2006/main">
            <a:off x="8239125" y="4695825"/>
            <a:ext cx="1381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0">
                <a:solidFill>
                  <a:srgbClr val="10253F"/>
                </a:solidFill>
                <a:latin typeface="Arial"/>
                <a:ea typeface="Arial"/>
                <a:cs typeface="Arial"/>
              </a:defRPr>
            </a:pPr>
            <a:r>
              <a:rPr sz="1200" b="0">
                <a:solidFill>
                  <a:srgbClr val="10253F"/>
                </a:solidFill>
                <a:latin typeface="Arial"/>
                <a:ea typeface="Arial"/>
                <a:cs typeface="Arial"/>
              </a:rPr>
              <a:t>consumer</a:t>
            </a:r>
          </a:p>
        </p:txBody>
      </p:sp>
      <p:sp>
        <p:nvSpPr>
          <p:cNvPr id="29" name="">
            <a:extLst xmlns:a="http://schemas.openxmlformats.org/drawingml/2006/main">
              <a:ext uri="{FF2B5EF4-FFF2-40B4-BE49-F238E27FC236}">
                <a16:creationId xmlns:a16="http://schemas.microsoft.com/office/drawing/2014/main" id="{BDEE5AF6-DBF0-4269-AE10-88E5847D7DE8}"/>
              </a:ext>
            </a:extLst>
          </p:cNvPr>
          <p:cNvSpPr>
            <a:spLocks xmlns:a="http://schemas.openxmlformats.org/drawingml/2006/main" noGrp="1"/>
          </p:cNvSpPr>
          <p:nvPr/>
        </p:nvSpPr>
        <p:spPr>
          <a:xfrm xmlns:a="http://schemas.openxmlformats.org/drawingml/2006/main">
            <a:off x="10144125" y="4095750"/>
            <a:ext cx="1238250" cy="1066800"/>
          </a:xfrm>
          <a:prstGeom xmlns:a="http://schemas.openxmlformats.org/drawingml/2006/main" prst="roundRect">
            <a:avLst>
              <a:gd name="adj" fmla="val 7143"/>
            </a:avLst>
          </a:prstGeom>
          <a:solidFill xmlns:a="http://schemas.openxmlformats.org/drawingml/2006/main">
            <a:srgbClr val="DDF2EE"/>
          </a:solidFill>
          <a:ln xmlns:a="http://schemas.openxmlformats.org/drawingml/2006/main" w="9525">
            <a:solidFill>
              <a:srgbClr val="0D7C75"/>
            </a:solidFill>
          </a:ln>
        </p:spPr>
      </p:sp>
      <p:sp>
        <p:nvSpPr>
          <p:cNvPr id="30" name="">
            <a:extLst xmlns:a="http://schemas.openxmlformats.org/drawingml/2006/main">
              <a:ext uri="{FF2B5EF4-FFF2-40B4-BE49-F238E27FC236}">
                <a16:creationId xmlns:a16="http://schemas.microsoft.com/office/drawing/2014/main" id="{07451909-5681-45B3-8498-58EC9BA34898}"/>
              </a:ext>
            </a:extLst>
          </p:cNvPr>
          <p:cNvSpPr>
            <a:spLocks xmlns:a="http://schemas.openxmlformats.org/drawingml/2006/main" noGrp="1"/>
          </p:cNvSpPr>
          <p:nvPr/>
        </p:nvSpPr>
        <p:spPr>
          <a:xfrm xmlns:a="http://schemas.openxmlformats.org/drawingml/2006/main">
            <a:off x="10239375" y="42862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0253F"/>
                </a:solidFill>
                <a:latin typeface="Arial"/>
                <a:ea typeface="Arial"/>
                <a:cs typeface="Arial"/>
              </a:defRPr>
            </a:pPr>
            <a:r>
              <a:rPr sz="1500" b="1">
                <a:solidFill>
                  <a:srgbClr val="10253F"/>
                </a:solidFill>
                <a:latin typeface="Arial"/>
                <a:ea typeface="Arial"/>
                <a:cs typeface="Arial"/>
              </a:rPr>
              <a:t>Mailpit</a:t>
            </a:r>
          </a:p>
        </p:txBody>
      </p:sp>
      <p:sp>
        <p:nvSpPr>
          <p:cNvPr id="31" name="">
            <a:extLst xmlns:a="http://schemas.openxmlformats.org/drawingml/2006/main">
              <a:ext uri="{FF2B5EF4-FFF2-40B4-BE49-F238E27FC236}">
                <a16:creationId xmlns:a16="http://schemas.microsoft.com/office/drawing/2014/main" id="{6D33FEDB-7792-4FB6-99C0-F46550C863F6}"/>
              </a:ext>
            </a:extLst>
          </p:cNvPr>
          <p:cNvSpPr>
            <a:spLocks xmlns:a="http://schemas.openxmlformats.org/drawingml/2006/main" noGrp="1"/>
          </p:cNvSpPr>
          <p:nvPr/>
        </p:nvSpPr>
        <p:spPr>
          <a:xfrm xmlns:a="http://schemas.openxmlformats.org/drawingml/2006/main">
            <a:off x="10239375" y="46958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0">
                <a:solidFill>
                  <a:srgbClr val="0D7C75"/>
                </a:solidFill>
                <a:latin typeface="Arial"/>
                <a:ea typeface="Arial"/>
                <a:cs typeface="Arial"/>
              </a:defRPr>
            </a:pPr>
            <a:r>
              <a:rPr sz="1200" b="0">
                <a:solidFill>
                  <a:srgbClr val="0D7C75"/>
                </a:solidFill>
                <a:latin typeface="Arial"/>
                <a:ea typeface="Arial"/>
                <a:cs typeface="Arial"/>
              </a:rPr>
              <a:t>8025</a:t>
            </a:r>
          </a:p>
        </p:txBody>
      </p:sp>
      <p:sp>
        <p:nvSpPr>
          <p:cNvPr id="32" name="">
            <a:extLst xmlns:a="http://schemas.openxmlformats.org/drawingml/2006/main">
              <a:ext uri="{FF2B5EF4-FFF2-40B4-BE49-F238E27FC236}">
                <a16:creationId xmlns:a16="http://schemas.microsoft.com/office/drawing/2014/main" id="{CD4F5080-010B-4B42-A522-ABEB33EA48D2}"/>
              </a:ext>
            </a:extLst>
          </p:cNvPr>
          <p:cNvSpPr>
            <a:spLocks xmlns:a="http://schemas.openxmlformats.org/drawingml/2006/main" noGrp="1"/>
          </p:cNvSpPr>
          <p:nvPr/>
        </p:nvSpPr>
        <p:spPr>
          <a:xfrm xmlns:a="http://schemas.openxmlformats.org/drawingml/2006/main">
            <a:off x="666750" y="5715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263746"/>
                </a:solidFill>
                <a:latin typeface="Arial"/>
                <a:ea typeface="Arial"/>
                <a:cs typeface="Arial"/>
              </a:defRPr>
            </a:pPr>
            <a:r>
              <a:rPr sz="1575" b="0">
                <a:solidFill>
                  <a:srgbClr val="263746"/>
                </a:solidFill>
                <a:latin typeface="Arial"/>
                <a:ea typeface="Arial"/>
                <a:cs typeface="Arial"/>
              </a:rPr>
              <a:t>Kafka separates financial commits from email delivery. Each service can scale independently.</a:t>
            </a:r>
          </a:p>
        </p:txBody>
      </p:sp>
    </p:spTree>
    <p:extLst>
      <p:ext uri="{BB962C8B-B14F-4D97-AF65-F5344CB8AC3E}">
        <p14:creationId xmlns:p14="http://schemas.microsoft.com/office/powerpoint/2010/main" val="91497560"/>
      </p:ext>
    </p:extLst>
  </p:cSld>
</p:sld>
</file>

<file path=ppt/slides/slide4.xml><?xml version="1.0" encoding="utf-8"?>
<p:sld xmlns:p="http://schemas.openxmlformats.org/presentationml/2006/main">
  <p:cSld>
    <p:bg>
      <p:bgPr>
        <a:solidFill xmlns:a="http://schemas.openxmlformats.org/drawingml/2006/main">
          <a:srgbClr val="10253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C2E291C-7302-42B8-9A05-5931B9EC0915}"/>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D9A62E"/>
                </a:solidFill>
                <a:latin typeface="Arial"/>
                <a:ea typeface="Arial"/>
                <a:cs typeface="Arial"/>
              </a:defRPr>
            </a:pPr>
            <a:r>
              <a:rPr sz="1050" b="1">
                <a:solidFill>
                  <a:srgbClr val="D9A62E"/>
                </a:solidFill>
                <a:latin typeface="Arial"/>
                <a:ea typeface="Arial"/>
                <a:cs typeface="Arial"/>
              </a:rPr>
              <a:t>BUSINESS FLOW</a:t>
            </a:r>
          </a:p>
        </p:txBody>
      </p:sp>
      <p:sp>
        <p:nvSpPr>
          <p:cNvPr id="2" name="">
            <a:extLst xmlns:a="http://schemas.openxmlformats.org/drawingml/2006/main">
              <a:ext uri="{FF2B5EF4-FFF2-40B4-BE49-F238E27FC236}">
                <a16:creationId xmlns:a16="http://schemas.microsoft.com/office/drawing/2014/main" id="{C2E808A1-6128-4DDB-92D5-0813B78083BD}"/>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Fixed-deposit lifecycle</a:t>
            </a:r>
          </a:p>
        </p:txBody>
      </p:sp>
      <p:sp>
        <p:nvSpPr>
          <p:cNvPr id="3" name="">
            <a:extLst xmlns:a="http://schemas.openxmlformats.org/drawingml/2006/main">
              <a:ext uri="{FF2B5EF4-FFF2-40B4-BE49-F238E27FC236}">
                <a16:creationId xmlns:a16="http://schemas.microsoft.com/office/drawing/2014/main" id="{8A607CDD-B074-44D5-86BD-12E0ABF0E355}"/>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DDF2EE"/>
                </a:solidFill>
                <a:latin typeface="Arial"/>
                <a:ea typeface="Arial"/>
                <a:cs typeface="Arial"/>
              </a:defRPr>
            </a:pPr>
            <a:r>
              <a:rPr sz="1125" b="1">
                <a:solidFill>
                  <a:srgbClr val="DDF2E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9F43E3FB-AD95-4AE7-B930-5EFBF7BB2FD5}"/>
              </a:ext>
            </a:extLst>
          </p:cNvPr>
          <p:cNvSpPr>
            <a:spLocks xmlns:a="http://schemas.openxmlformats.org/drawingml/2006/main" noGrp="1"/>
          </p:cNvSpPr>
          <p:nvPr/>
        </p:nvSpPr>
        <p:spPr>
          <a:xfrm xmlns:a="http://schemas.openxmlformats.org/drawingml/2006/main">
            <a:off x="609600" y="17716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9A62E"/>
                </a:solidFill>
                <a:latin typeface="Arial"/>
                <a:ea typeface="Arial"/>
                <a:cs typeface="Arial"/>
              </a:defRPr>
            </a:pPr>
            <a:r>
              <a:rPr sz="1650" b="1">
                <a:solidFill>
                  <a:srgbClr val="D9A62E"/>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D1E587B-6374-4512-805C-55A27471DA14}"/>
              </a:ext>
            </a:extLst>
          </p:cNvPr>
          <p:cNvSpPr>
            <a:spLocks xmlns:a="http://schemas.openxmlformats.org/drawingml/2006/main" noGrp="1"/>
          </p:cNvSpPr>
          <p:nvPr/>
        </p:nvSpPr>
        <p:spPr>
          <a:xfrm xmlns:a="http://schemas.openxmlformats.org/drawingml/2006/main">
            <a:off x="609600" y="223837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OPEN</a:t>
            </a:r>
          </a:p>
        </p:txBody>
      </p:sp>
      <p:sp>
        <p:nvSpPr>
          <p:cNvPr id="6" name="">
            <a:extLst xmlns:a="http://schemas.openxmlformats.org/drawingml/2006/main">
              <a:ext uri="{FF2B5EF4-FFF2-40B4-BE49-F238E27FC236}">
                <a16:creationId xmlns:a16="http://schemas.microsoft.com/office/drawing/2014/main" id="{087AF06F-62C3-49A6-BCF9-143DAEE65BD4}"/>
              </a:ext>
            </a:extLst>
          </p:cNvPr>
          <p:cNvSpPr>
            <a:spLocks xmlns:a="http://schemas.openxmlformats.org/drawingml/2006/main" noGrp="1"/>
          </p:cNvSpPr>
          <p:nvPr/>
        </p:nvSpPr>
        <p:spPr>
          <a:xfrm xmlns:a="http://schemas.openxmlformats.org/drawingml/2006/main">
            <a:off x="609600" y="2762250"/>
            <a:ext cx="180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DDF2EE"/>
                </a:solidFill>
                <a:latin typeface="Arial"/>
                <a:ea typeface="Arial"/>
                <a:cs typeface="Arial"/>
              </a:defRPr>
            </a:pPr>
            <a:r>
              <a:rPr sz="1350" b="0">
                <a:solidFill>
                  <a:srgbClr val="DDF2EE"/>
                </a:solidFill>
                <a:latin typeface="Arial"/>
                <a:ea typeface="Arial"/>
                <a:cs typeface="Arial"/>
              </a:rPr>
              <a:t>Validate customer, product, term and money</a:t>
            </a:r>
          </a:p>
        </p:txBody>
      </p:sp>
      <p:sp>
        <p:nvSpPr>
          <p:cNvPr id="7" name="">
            <a:extLst xmlns:a="http://schemas.openxmlformats.org/drawingml/2006/main">
              <a:ext uri="{FF2B5EF4-FFF2-40B4-BE49-F238E27FC236}">
                <a16:creationId xmlns:a16="http://schemas.microsoft.com/office/drawing/2014/main" id="{9264338A-EF71-49B0-9F38-83D13538B70A}"/>
              </a:ext>
            </a:extLst>
          </p:cNvPr>
          <p:cNvSpPr>
            <a:spLocks xmlns:a="http://schemas.openxmlformats.org/drawingml/2006/main" noGrp="1"/>
          </p:cNvSpPr>
          <p:nvPr/>
        </p:nvSpPr>
        <p:spPr>
          <a:xfrm xmlns:a="http://schemas.openxmlformats.org/drawingml/2006/main">
            <a:off x="2457450" y="2324100"/>
            <a:ext cx="266700" cy="571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C960E54-393E-45A8-9E21-7ADCCAC9CB21}"/>
              </a:ext>
            </a:extLst>
          </p:cNvPr>
          <p:cNvSpPr>
            <a:spLocks xmlns:a="http://schemas.openxmlformats.org/drawingml/2006/main" noGrp="1"/>
          </p:cNvSpPr>
          <p:nvPr/>
        </p:nvSpPr>
        <p:spPr>
          <a:xfrm xmlns:a="http://schemas.openxmlformats.org/drawingml/2006/main">
            <a:off x="2876550" y="17716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9A62E"/>
                </a:solidFill>
                <a:latin typeface="Arial"/>
                <a:ea typeface="Arial"/>
                <a:cs typeface="Arial"/>
              </a:defRPr>
            </a:pPr>
            <a:r>
              <a:rPr sz="1650" b="1">
                <a:solidFill>
                  <a:srgbClr val="D9A62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33EDF29-E882-43F2-AEE9-F408763F05C6}"/>
              </a:ext>
            </a:extLst>
          </p:cNvPr>
          <p:cNvSpPr>
            <a:spLocks xmlns:a="http://schemas.openxmlformats.org/drawingml/2006/main" noGrp="1"/>
          </p:cNvSpPr>
          <p:nvPr/>
        </p:nvSpPr>
        <p:spPr>
          <a:xfrm xmlns:a="http://schemas.openxmlformats.org/drawingml/2006/main">
            <a:off x="2876550" y="223837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POST</a:t>
            </a:r>
          </a:p>
        </p:txBody>
      </p:sp>
      <p:sp>
        <p:nvSpPr>
          <p:cNvPr id="10" name="">
            <a:extLst xmlns:a="http://schemas.openxmlformats.org/drawingml/2006/main">
              <a:ext uri="{FF2B5EF4-FFF2-40B4-BE49-F238E27FC236}">
                <a16:creationId xmlns:a16="http://schemas.microsoft.com/office/drawing/2014/main" id="{8D3B00B6-3E49-4B04-ADC8-9076624F141E}"/>
              </a:ext>
            </a:extLst>
          </p:cNvPr>
          <p:cNvSpPr>
            <a:spLocks xmlns:a="http://schemas.openxmlformats.org/drawingml/2006/main" noGrp="1"/>
          </p:cNvSpPr>
          <p:nvPr/>
        </p:nvSpPr>
        <p:spPr>
          <a:xfrm xmlns:a="http://schemas.openxmlformats.org/drawingml/2006/main">
            <a:off x="2876550" y="2762250"/>
            <a:ext cx="180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DDF2EE"/>
                </a:solidFill>
                <a:latin typeface="Arial"/>
                <a:ea typeface="Arial"/>
                <a:cs typeface="Arial"/>
              </a:defRPr>
            </a:pPr>
            <a:r>
              <a:rPr sz="1350" b="0">
                <a:solidFill>
                  <a:srgbClr val="DDF2EE"/>
                </a:solidFill>
                <a:latin typeface="Arial"/>
                <a:ea typeface="Arial"/>
                <a:cs typeface="Arial"/>
              </a:rPr>
              <a:t>Create account and opening transaction</a:t>
            </a:r>
          </a:p>
        </p:txBody>
      </p:sp>
      <p:sp>
        <p:nvSpPr>
          <p:cNvPr id="11" name="">
            <a:extLst xmlns:a="http://schemas.openxmlformats.org/drawingml/2006/main">
              <a:ext uri="{FF2B5EF4-FFF2-40B4-BE49-F238E27FC236}">
                <a16:creationId xmlns:a16="http://schemas.microsoft.com/office/drawing/2014/main" id="{D6A77BEF-E6E9-4A74-A7C1-D3681EB3453F}"/>
              </a:ext>
            </a:extLst>
          </p:cNvPr>
          <p:cNvSpPr>
            <a:spLocks xmlns:a="http://schemas.openxmlformats.org/drawingml/2006/main" noGrp="1"/>
          </p:cNvSpPr>
          <p:nvPr/>
        </p:nvSpPr>
        <p:spPr>
          <a:xfrm xmlns:a="http://schemas.openxmlformats.org/drawingml/2006/main">
            <a:off x="4724400" y="2324100"/>
            <a:ext cx="266700" cy="571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914B065-3EB8-44E5-BF23-5B104191E997}"/>
              </a:ext>
            </a:extLst>
          </p:cNvPr>
          <p:cNvSpPr>
            <a:spLocks xmlns:a="http://schemas.openxmlformats.org/drawingml/2006/main" noGrp="1"/>
          </p:cNvSpPr>
          <p:nvPr/>
        </p:nvSpPr>
        <p:spPr>
          <a:xfrm xmlns:a="http://schemas.openxmlformats.org/drawingml/2006/main">
            <a:off x="5143500" y="17716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9A62E"/>
                </a:solidFill>
                <a:latin typeface="Arial"/>
                <a:ea typeface="Arial"/>
                <a:cs typeface="Arial"/>
              </a:defRPr>
            </a:pPr>
            <a:r>
              <a:rPr sz="1650" b="1">
                <a:solidFill>
                  <a:srgbClr val="D9A62E"/>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7A87CA0-91B1-44B7-B224-D4CBE5933FE4}"/>
              </a:ext>
            </a:extLst>
          </p:cNvPr>
          <p:cNvSpPr>
            <a:spLocks xmlns:a="http://schemas.openxmlformats.org/drawingml/2006/main" noGrp="1"/>
          </p:cNvSpPr>
          <p:nvPr/>
        </p:nvSpPr>
        <p:spPr>
          <a:xfrm xmlns:a="http://schemas.openxmlformats.org/drawingml/2006/main">
            <a:off x="5143500" y="223837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ACCRUE</a:t>
            </a:r>
          </a:p>
        </p:txBody>
      </p:sp>
      <p:sp>
        <p:nvSpPr>
          <p:cNvPr id="14" name="">
            <a:extLst xmlns:a="http://schemas.openxmlformats.org/drawingml/2006/main">
              <a:ext uri="{FF2B5EF4-FFF2-40B4-BE49-F238E27FC236}">
                <a16:creationId xmlns:a16="http://schemas.microsoft.com/office/drawing/2014/main" id="{F7E91E63-4B80-49A8-AAC4-E854365177FA}"/>
              </a:ext>
            </a:extLst>
          </p:cNvPr>
          <p:cNvSpPr>
            <a:spLocks xmlns:a="http://schemas.openxmlformats.org/drawingml/2006/main" noGrp="1"/>
          </p:cNvSpPr>
          <p:nvPr/>
        </p:nvSpPr>
        <p:spPr>
          <a:xfrm xmlns:a="http://schemas.openxmlformats.org/drawingml/2006/main">
            <a:off x="5143500" y="2762250"/>
            <a:ext cx="180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DDF2EE"/>
                </a:solidFill>
                <a:latin typeface="Arial"/>
                <a:ea typeface="Arial"/>
                <a:cs typeface="Arial"/>
              </a:defRPr>
            </a:pPr>
            <a:r>
              <a:rPr sz="1350" b="0">
                <a:solidFill>
                  <a:srgbClr val="DDF2EE"/>
                </a:solidFill>
                <a:latin typeface="Arial"/>
                <a:ea typeface="Arial"/>
                <a:cs typeface="Arial"/>
              </a:rPr>
              <a:t>Run daily interest and capitalization</a:t>
            </a:r>
          </a:p>
        </p:txBody>
      </p:sp>
      <p:sp>
        <p:nvSpPr>
          <p:cNvPr id="15" name="">
            <a:extLst xmlns:a="http://schemas.openxmlformats.org/drawingml/2006/main">
              <a:ext uri="{FF2B5EF4-FFF2-40B4-BE49-F238E27FC236}">
                <a16:creationId xmlns:a16="http://schemas.microsoft.com/office/drawing/2014/main" id="{BCAFFD7C-BEF0-4C77-9797-F5813C146AAF}"/>
              </a:ext>
            </a:extLst>
          </p:cNvPr>
          <p:cNvSpPr>
            <a:spLocks xmlns:a="http://schemas.openxmlformats.org/drawingml/2006/main" noGrp="1"/>
          </p:cNvSpPr>
          <p:nvPr/>
        </p:nvSpPr>
        <p:spPr>
          <a:xfrm xmlns:a="http://schemas.openxmlformats.org/drawingml/2006/main">
            <a:off x="6991350" y="2324100"/>
            <a:ext cx="266700" cy="571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CFEB98-6185-4737-8A2F-B484405FD26D}"/>
              </a:ext>
            </a:extLst>
          </p:cNvPr>
          <p:cNvSpPr>
            <a:spLocks xmlns:a="http://schemas.openxmlformats.org/drawingml/2006/main" noGrp="1"/>
          </p:cNvSpPr>
          <p:nvPr/>
        </p:nvSpPr>
        <p:spPr>
          <a:xfrm xmlns:a="http://schemas.openxmlformats.org/drawingml/2006/main">
            <a:off x="7410450" y="17716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9A62E"/>
                </a:solidFill>
                <a:latin typeface="Arial"/>
                <a:ea typeface="Arial"/>
                <a:cs typeface="Arial"/>
              </a:defRPr>
            </a:pPr>
            <a:r>
              <a:rPr sz="1650" b="1">
                <a:solidFill>
                  <a:srgbClr val="D9A62E"/>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5CD87207-2296-42E6-BB7E-6BC5065E62C9}"/>
              </a:ext>
            </a:extLst>
          </p:cNvPr>
          <p:cNvSpPr>
            <a:spLocks xmlns:a="http://schemas.openxmlformats.org/drawingml/2006/main" noGrp="1"/>
          </p:cNvSpPr>
          <p:nvPr/>
        </p:nvSpPr>
        <p:spPr>
          <a:xfrm xmlns:a="http://schemas.openxmlformats.org/drawingml/2006/main">
            <a:off x="7410450" y="223837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CLOSE</a:t>
            </a:r>
          </a:p>
        </p:txBody>
      </p:sp>
      <p:sp>
        <p:nvSpPr>
          <p:cNvPr id="18" name="">
            <a:extLst xmlns:a="http://schemas.openxmlformats.org/drawingml/2006/main">
              <a:ext uri="{FF2B5EF4-FFF2-40B4-BE49-F238E27FC236}">
                <a16:creationId xmlns:a16="http://schemas.microsoft.com/office/drawing/2014/main" id="{F07182A9-B083-430B-8E7D-5F40B28E4182}"/>
              </a:ext>
            </a:extLst>
          </p:cNvPr>
          <p:cNvSpPr>
            <a:spLocks xmlns:a="http://schemas.openxmlformats.org/drawingml/2006/main" noGrp="1"/>
          </p:cNvSpPr>
          <p:nvPr/>
        </p:nvSpPr>
        <p:spPr>
          <a:xfrm xmlns:a="http://schemas.openxmlformats.org/drawingml/2006/main">
            <a:off x="7410450" y="2762250"/>
            <a:ext cx="180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DDF2EE"/>
                </a:solidFill>
                <a:latin typeface="Arial"/>
                <a:ea typeface="Arial"/>
                <a:cs typeface="Arial"/>
              </a:defRPr>
            </a:pPr>
            <a:r>
              <a:rPr sz="1350" b="0">
                <a:solidFill>
                  <a:srgbClr val="DDF2EE"/>
                </a:solidFill>
                <a:latin typeface="Arial"/>
                <a:ea typeface="Arial"/>
                <a:cs typeface="Arial"/>
              </a:rPr>
              <a:t>Mature or apply premature penalty</a:t>
            </a:r>
          </a:p>
        </p:txBody>
      </p:sp>
      <p:sp>
        <p:nvSpPr>
          <p:cNvPr id="19" name="">
            <a:extLst xmlns:a="http://schemas.openxmlformats.org/drawingml/2006/main">
              <a:ext uri="{FF2B5EF4-FFF2-40B4-BE49-F238E27FC236}">
                <a16:creationId xmlns:a16="http://schemas.microsoft.com/office/drawing/2014/main" id="{F8363843-E3BB-488C-B539-7A493833E3B5}"/>
              </a:ext>
            </a:extLst>
          </p:cNvPr>
          <p:cNvSpPr>
            <a:spLocks xmlns:a="http://schemas.openxmlformats.org/drawingml/2006/main" noGrp="1"/>
          </p:cNvSpPr>
          <p:nvPr/>
        </p:nvSpPr>
        <p:spPr>
          <a:xfrm xmlns:a="http://schemas.openxmlformats.org/drawingml/2006/main">
            <a:off x="9258300" y="2324100"/>
            <a:ext cx="266700" cy="571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A2761E4-C9F4-40FE-B46E-0BAFE2B4433E}"/>
              </a:ext>
            </a:extLst>
          </p:cNvPr>
          <p:cNvSpPr>
            <a:spLocks xmlns:a="http://schemas.openxmlformats.org/drawingml/2006/main" noGrp="1"/>
          </p:cNvSpPr>
          <p:nvPr/>
        </p:nvSpPr>
        <p:spPr>
          <a:xfrm xmlns:a="http://schemas.openxmlformats.org/drawingml/2006/main">
            <a:off x="9677400" y="17716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9A62E"/>
                </a:solidFill>
                <a:latin typeface="Arial"/>
                <a:ea typeface="Arial"/>
                <a:cs typeface="Arial"/>
              </a:defRPr>
            </a:pPr>
            <a:r>
              <a:rPr sz="1650" b="1">
                <a:solidFill>
                  <a:srgbClr val="D9A62E"/>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70F2A69B-EB74-4D27-8093-A2E2829A34DF}"/>
              </a:ext>
            </a:extLst>
          </p:cNvPr>
          <p:cNvSpPr>
            <a:spLocks xmlns:a="http://schemas.openxmlformats.org/drawingml/2006/main" noGrp="1"/>
          </p:cNvSpPr>
          <p:nvPr/>
        </p:nvSpPr>
        <p:spPr>
          <a:xfrm xmlns:a="http://schemas.openxmlformats.org/drawingml/2006/main">
            <a:off x="9677400" y="2238375"/>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3422AE1A-EA0D-411C-A989-1E833077BAB3}"/>
              </a:ext>
            </a:extLst>
          </p:cNvPr>
          <p:cNvSpPr>
            <a:spLocks xmlns:a="http://schemas.openxmlformats.org/drawingml/2006/main" noGrp="1"/>
          </p:cNvSpPr>
          <p:nvPr/>
        </p:nvSpPr>
        <p:spPr>
          <a:xfrm xmlns:a="http://schemas.openxmlformats.org/drawingml/2006/main">
            <a:off x="9677400" y="2762250"/>
            <a:ext cx="180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DDF2EE"/>
                </a:solidFill>
                <a:latin typeface="Arial"/>
                <a:ea typeface="Arial"/>
                <a:cs typeface="Arial"/>
              </a:defRPr>
            </a:pPr>
            <a:r>
              <a:rPr sz="1350" b="0">
                <a:solidFill>
                  <a:srgbClr val="DDF2EE"/>
                </a:solidFill>
                <a:latin typeface="Arial"/>
                <a:ea typeface="Arial"/>
                <a:cs typeface="Arial"/>
              </a:rPr>
              <a:t>Notify, statement and report</a:t>
            </a:r>
          </a:p>
        </p:txBody>
      </p:sp>
      <p:sp>
        <p:nvSpPr>
          <p:cNvPr id="23" name="">
            <a:extLst xmlns:a="http://schemas.openxmlformats.org/drawingml/2006/main">
              <a:ext uri="{FF2B5EF4-FFF2-40B4-BE49-F238E27FC236}">
                <a16:creationId xmlns:a16="http://schemas.microsoft.com/office/drawing/2014/main" id="{68E46D5B-79B1-4C87-8514-8DAFFCEC68D6}"/>
              </a:ext>
            </a:extLst>
          </p:cNvPr>
          <p:cNvSpPr>
            <a:spLocks xmlns:a="http://schemas.openxmlformats.org/drawingml/2006/main" noGrp="1"/>
          </p:cNvSpPr>
          <p:nvPr/>
        </p:nvSpPr>
        <p:spPr>
          <a:xfrm xmlns:a="http://schemas.openxmlformats.org/drawingml/2006/main">
            <a:off x="609600" y="4362450"/>
            <a:ext cx="10839450" cy="1905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98ECBC5-D42A-4178-BB9A-5F5ABEDF3327}"/>
              </a:ext>
            </a:extLst>
          </p:cNvPr>
          <p:cNvSpPr>
            <a:spLocks xmlns:a="http://schemas.openxmlformats.org/drawingml/2006/main" noGrp="1"/>
          </p:cNvSpPr>
          <p:nvPr/>
        </p:nvSpPr>
        <p:spPr>
          <a:xfrm xmlns:a="http://schemas.openxmlformats.org/drawingml/2006/main">
            <a:off x="609600" y="476250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A logical business date makes maturity and statement scenarios repeatable during a short lab session.</a:t>
            </a:r>
          </a:p>
        </p:txBody>
      </p:sp>
    </p:spTree>
    <p:extLst>
      <p:ext uri="{BB962C8B-B14F-4D97-AF65-F5344CB8AC3E}">
        <p14:creationId xmlns:p14="http://schemas.microsoft.com/office/powerpoint/2010/main" val="14980811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8407322-D967-4906-B81C-2AA7B1AA5F5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B2FA1E-753D-486F-9423-118B29792EAE}"/>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D7C75"/>
                </a:solidFill>
                <a:latin typeface="Arial"/>
                <a:ea typeface="Arial"/>
                <a:cs typeface="Arial"/>
              </a:defRPr>
            </a:pPr>
            <a:r>
              <a:rPr sz="1050" b="1">
                <a:solidFill>
                  <a:srgbClr val="0D7C75"/>
                </a:solidFill>
                <a:latin typeface="Arial"/>
                <a:ea typeface="Arial"/>
                <a:cs typeface="Arial"/>
              </a:rPr>
              <a:t>FINANCIAL CORRECTNESS</a:t>
            </a:r>
          </a:p>
        </p:txBody>
      </p:sp>
      <p:sp>
        <p:nvSpPr>
          <p:cNvPr id="3" name="">
            <a:extLst xmlns:a="http://schemas.openxmlformats.org/drawingml/2006/main">
              <a:ext uri="{FF2B5EF4-FFF2-40B4-BE49-F238E27FC236}">
                <a16:creationId xmlns:a16="http://schemas.microsoft.com/office/drawing/2014/main" id="{571C1A13-ADF4-476A-8FE6-6008A07DB95C}"/>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53F"/>
                </a:solidFill>
                <a:latin typeface="Arial"/>
                <a:ea typeface="Arial"/>
                <a:cs typeface="Arial"/>
              </a:defRPr>
            </a:pPr>
            <a:r>
              <a:rPr sz="2850" b="1">
                <a:solidFill>
                  <a:srgbClr val="10253F"/>
                </a:solidFill>
                <a:latin typeface="Arial"/>
                <a:ea typeface="Arial"/>
                <a:cs typeface="Arial"/>
              </a:rPr>
              <a:t>Money and currency rules</a:t>
            </a:r>
          </a:p>
        </p:txBody>
      </p:sp>
      <p:sp>
        <p:nvSpPr>
          <p:cNvPr id="4" name="">
            <a:extLst xmlns:a="http://schemas.openxmlformats.org/drawingml/2006/main">
              <a:ext uri="{FF2B5EF4-FFF2-40B4-BE49-F238E27FC236}">
                <a16:creationId xmlns:a16="http://schemas.microsoft.com/office/drawing/2014/main" id="{4CABD520-10C7-4CB6-AFEE-53D23AC8FCEA}"/>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D7C75"/>
                </a:solidFill>
                <a:latin typeface="Arial"/>
                <a:ea typeface="Arial"/>
                <a:cs typeface="Arial"/>
              </a:defRPr>
            </a:pPr>
            <a:r>
              <a:rPr sz="1125" b="1">
                <a:solidFill>
                  <a:srgbClr val="0D7C7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EB856F3-3403-43D6-9A4D-9A3EB5997483}"/>
              </a:ext>
            </a:extLst>
          </p:cNvPr>
          <p:cNvSpPr>
            <a:spLocks xmlns:a="http://schemas.openxmlformats.org/drawingml/2006/main" noGrp="1"/>
          </p:cNvSpPr>
          <p:nvPr/>
        </p:nvSpPr>
        <p:spPr>
          <a:xfrm xmlns:a="http://schemas.openxmlformats.org/drawingml/2006/main">
            <a:off x="666750" y="1428750"/>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0"/>
          </a:bodyPr>
          <a:lstStyle xmlns:a="http://schemas.openxmlformats.org/drawingml/2006/main"/>
          <a:p xmlns:a="http://schemas.openxmlformats.org/drawingml/2006/main">
            <a:pPr algn="l">
              <a:defRPr sz="1875" b="1">
                <a:solidFill>
                  <a:srgbClr val="263746"/>
                </a:solidFill>
                <a:latin typeface="Arial"/>
                <a:ea typeface="Arial"/>
                <a:cs typeface="Arial"/>
              </a:defRPr>
            </a:pPr>
            <a:r>
              <a:rPr sz="1875" b="1">
                <a:solidFill>
                  <a:srgbClr val="263746"/>
                </a:solidFill>
                <a:latin typeface="Arial"/>
                <a:ea typeface="Arial"/>
                <a:cs typeface="Arial"/>
              </a:rPr>
              <a:t>Money uses decimal arithmetic from request validation through database persistence.</a:t>
            </a:r>
          </a:p>
        </p:txBody>
      </p:sp>
      <p:sp>
        <p:nvSpPr>
          <p:cNvPr id="6" name="">
            <a:extLst xmlns:a="http://schemas.openxmlformats.org/drawingml/2006/main">
              <a:ext uri="{FF2B5EF4-FFF2-40B4-BE49-F238E27FC236}">
                <a16:creationId xmlns:a16="http://schemas.microsoft.com/office/drawing/2014/main" id="{C6F10426-DBB0-4041-8060-7F484DC02CCE}"/>
              </a:ext>
            </a:extLst>
          </p:cNvPr>
          <p:cNvSpPr>
            <a:spLocks xmlns:a="http://schemas.openxmlformats.org/drawingml/2006/main" noGrp="1"/>
          </p:cNvSpPr>
          <p:nvPr/>
        </p:nvSpPr>
        <p:spPr>
          <a:xfrm xmlns:a="http://schemas.openxmlformats.org/drawingml/2006/main">
            <a:off x="666750" y="24288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0D7C75"/>
                </a:solidFill>
                <a:latin typeface="Arial"/>
                <a:ea typeface="Arial"/>
                <a:cs typeface="Arial"/>
              </a:defRPr>
            </a:pPr>
            <a:r>
              <a:rPr sz="2325" b="1">
                <a:solidFill>
                  <a:srgbClr val="0D7C75"/>
                </a:solidFill>
                <a:latin typeface="Arial"/>
                <a:ea typeface="Arial"/>
                <a:cs typeface="Arial"/>
              </a:rPr>
              <a:t>INR</a:t>
            </a:r>
          </a:p>
        </p:txBody>
      </p:sp>
      <p:sp>
        <p:nvSpPr>
          <p:cNvPr id="7" name="">
            <a:extLst xmlns:a="http://schemas.openxmlformats.org/drawingml/2006/main">
              <a:ext uri="{FF2B5EF4-FFF2-40B4-BE49-F238E27FC236}">
                <a16:creationId xmlns:a16="http://schemas.microsoft.com/office/drawing/2014/main" id="{1AC0E4EA-C419-4E37-B0EC-C0697429FADA}"/>
              </a:ext>
            </a:extLst>
          </p:cNvPr>
          <p:cNvSpPr>
            <a:spLocks xmlns:a="http://schemas.openxmlformats.org/drawingml/2006/main" noGrp="1"/>
          </p:cNvSpPr>
          <p:nvPr/>
        </p:nvSpPr>
        <p:spPr>
          <a:xfrm xmlns:a="http://schemas.openxmlformats.org/drawingml/2006/main">
            <a:off x="666750" y="2971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263746"/>
                </a:solidFill>
                <a:latin typeface="Arial"/>
                <a:ea typeface="Arial"/>
                <a:cs typeface="Arial"/>
              </a:defRPr>
            </a:pPr>
            <a:r>
              <a:rPr sz="1275" b="0">
                <a:solidFill>
                  <a:srgbClr val="263746"/>
                </a:solidFill>
                <a:latin typeface="Arial"/>
                <a:ea typeface="Arial"/>
                <a:cs typeface="Arial"/>
              </a:rPr>
              <a:t>2 decimals</a:t>
            </a:r>
          </a:p>
        </p:txBody>
      </p:sp>
      <p:sp>
        <p:nvSpPr>
          <p:cNvPr id="8" name="">
            <a:extLst xmlns:a="http://schemas.openxmlformats.org/drawingml/2006/main">
              <a:ext uri="{FF2B5EF4-FFF2-40B4-BE49-F238E27FC236}">
                <a16:creationId xmlns:a16="http://schemas.microsoft.com/office/drawing/2014/main" id="{BFA6E4B5-8968-4137-8563-F1436D9704F6}"/>
              </a:ext>
            </a:extLst>
          </p:cNvPr>
          <p:cNvSpPr>
            <a:spLocks xmlns:a="http://schemas.openxmlformats.org/drawingml/2006/main" noGrp="1"/>
          </p:cNvSpPr>
          <p:nvPr/>
        </p:nvSpPr>
        <p:spPr>
          <a:xfrm xmlns:a="http://schemas.openxmlformats.org/drawingml/2006/main">
            <a:off x="2143125" y="24288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D9A62E"/>
                </a:solidFill>
                <a:latin typeface="Arial"/>
                <a:ea typeface="Arial"/>
                <a:cs typeface="Arial"/>
              </a:defRPr>
            </a:pPr>
            <a:r>
              <a:rPr sz="2325" b="1">
                <a:solidFill>
                  <a:srgbClr val="D9A62E"/>
                </a:solidFill>
                <a:latin typeface="Arial"/>
                <a:ea typeface="Arial"/>
                <a:cs typeface="Arial"/>
              </a:rPr>
              <a:t>USD</a:t>
            </a:r>
          </a:p>
        </p:txBody>
      </p:sp>
      <p:sp>
        <p:nvSpPr>
          <p:cNvPr id="9" name="">
            <a:extLst xmlns:a="http://schemas.openxmlformats.org/drawingml/2006/main">
              <a:ext uri="{FF2B5EF4-FFF2-40B4-BE49-F238E27FC236}">
                <a16:creationId xmlns:a16="http://schemas.microsoft.com/office/drawing/2014/main" id="{6C7CA15F-AEEA-4CB2-9EDF-E8108E228A28}"/>
              </a:ext>
            </a:extLst>
          </p:cNvPr>
          <p:cNvSpPr>
            <a:spLocks xmlns:a="http://schemas.openxmlformats.org/drawingml/2006/main" noGrp="1"/>
          </p:cNvSpPr>
          <p:nvPr/>
        </p:nvSpPr>
        <p:spPr>
          <a:xfrm xmlns:a="http://schemas.openxmlformats.org/drawingml/2006/main">
            <a:off x="2143125" y="2971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263746"/>
                </a:solidFill>
                <a:latin typeface="Arial"/>
                <a:ea typeface="Arial"/>
                <a:cs typeface="Arial"/>
              </a:defRPr>
            </a:pPr>
            <a:r>
              <a:rPr sz="1275" b="0">
                <a:solidFill>
                  <a:srgbClr val="263746"/>
                </a:solidFill>
                <a:latin typeface="Arial"/>
                <a:ea typeface="Arial"/>
                <a:cs typeface="Arial"/>
              </a:rPr>
              <a:t>2 decimals</a:t>
            </a:r>
          </a:p>
        </p:txBody>
      </p:sp>
      <p:sp>
        <p:nvSpPr>
          <p:cNvPr id="10" name="">
            <a:extLst xmlns:a="http://schemas.openxmlformats.org/drawingml/2006/main">
              <a:ext uri="{FF2B5EF4-FFF2-40B4-BE49-F238E27FC236}">
                <a16:creationId xmlns:a16="http://schemas.microsoft.com/office/drawing/2014/main" id="{6B8D488F-2F51-400E-9CA9-149AD7D5320E}"/>
              </a:ext>
            </a:extLst>
          </p:cNvPr>
          <p:cNvSpPr>
            <a:spLocks xmlns:a="http://schemas.openxmlformats.org/drawingml/2006/main" noGrp="1"/>
          </p:cNvSpPr>
          <p:nvPr/>
        </p:nvSpPr>
        <p:spPr>
          <a:xfrm xmlns:a="http://schemas.openxmlformats.org/drawingml/2006/main">
            <a:off x="3619500" y="24288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0D7C75"/>
                </a:solidFill>
                <a:latin typeface="Arial"/>
                <a:ea typeface="Arial"/>
                <a:cs typeface="Arial"/>
              </a:defRPr>
            </a:pPr>
            <a:r>
              <a:rPr sz="2325" b="1">
                <a:solidFill>
                  <a:srgbClr val="0D7C75"/>
                </a:solidFill>
                <a:latin typeface="Arial"/>
                <a:ea typeface="Arial"/>
                <a:cs typeface="Arial"/>
              </a:rPr>
              <a:t>EUR</a:t>
            </a:r>
          </a:p>
        </p:txBody>
      </p:sp>
      <p:sp>
        <p:nvSpPr>
          <p:cNvPr id="11" name="">
            <a:extLst xmlns:a="http://schemas.openxmlformats.org/drawingml/2006/main">
              <a:ext uri="{FF2B5EF4-FFF2-40B4-BE49-F238E27FC236}">
                <a16:creationId xmlns:a16="http://schemas.microsoft.com/office/drawing/2014/main" id="{858D432A-DFC3-4EFC-8E69-F8E0E22A639C}"/>
              </a:ext>
            </a:extLst>
          </p:cNvPr>
          <p:cNvSpPr>
            <a:spLocks xmlns:a="http://schemas.openxmlformats.org/drawingml/2006/main" noGrp="1"/>
          </p:cNvSpPr>
          <p:nvPr/>
        </p:nvSpPr>
        <p:spPr>
          <a:xfrm xmlns:a="http://schemas.openxmlformats.org/drawingml/2006/main">
            <a:off x="3619500" y="2971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263746"/>
                </a:solidFill>
                <a:latin typeface="Arial"/>
                <a:ea typeface="Arial"/>
                <a:cs typeface="Arial"/>
              </a:defRPr>
            </a:pPr>
            <a:r>
              <a:rPr sz="1275" b="0">
                <a:solidFill>
                  <a:srgbClr val="263746"/>
                </a:solidFill>
                <a:latin typeface="Arial"/>
                <a:ea typeface="Arial"/>
                <a:cs typeface="Arial"/>
              </a:rPr>
              <a:t>2 decimals</a:t>
            </a:r>
          </a:p>
        </p:txBody>
      </p:sp>
      <p:sp>
        <p:nvSpPr>
          <p:cNvPr id="12" name="">
            <a:extLst xmlns:a="http://schemas.openxmlformats.org/drawingml/2006/main">
              <a:ext uri="{FF2B5EF4-FFF2-40B4-BE49-F238E27FC236}">
                <a16:creationId xmlns:a16="http://schemas.microsoft.com/office/drawing/2014/main" id="{41C93617-5A51-42D6-8A54-684EF22C22F2}"/>
              </a:ext>
            </a:extLst>
          </p:cNvPr>
          <p:cNvSpPr>
            <a:spLocks xmlns:a="http://schemas.openxmlformats.org/drawingml/2006/main" noGrp="1"/>
          </p:cNvSpPr>
          <p:nvPr/>
        </p:nvSpPr>
        <p:spPr>
          <a:xfrm xmlns:a="http://schemas.openxmlformats.org/drawingml/2006/main">
            <a:off x="5095875" y="24288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D9A62E"/>
                </a:solidFill>
                <a:latin typeface="Arial"/>
                <a:ea typeface="Arial"/>
                <a:cs typeface="Arial"/>
              </a:defRPr>
            </a:pPr>
            <a:r>
              <a:rPr sz="2325" b="1">
                <a:solidFill>
                  <a:srgbClr val="D9A62E"/>
                </a:solidFill>
                <a:latin typeface="Arial"/>
                <a:ea typeface="Arial"/>
                <a:cs typeface="Arial"/>
              </a:rPr>
              <a:t>GBP</a:t>
            </a:r>
          </a:p>
        </p:txBody>
      </p:sp>
      <p:sp>
        <p:nvSpPr>
          <p:cNvPr id="13" name="">
            <a:extLst xmlns:a="http://schemas.openxmlformats.org/drawingml/2006/main">
              <a:ext uri="{FF2B5EF4-FFF2-40B4-BE49-F238E27FC236}">
                <a16:creationId xmlns:a16="http://schemas.microsoft.com/office/drawing/2014/main" id="{D61CEDC4-5109-4C34-9B8A-CFBB20EA540B}"/>
              </a:ext>
            </a:extLst>
          </p:cNvPr>
          <p:cNvSpPr>
            <a:spLocks xmlns:a="http://schemas.openxmlformats.org/drawingml/2006/main" noGrp="1"/>
          </p:cNvSpPr>
          <p:nvPr/>
        </p:nvSpPr>
        <p:spPr>
          <a:xfrm xmlns:a="http://schemas.openxmlformats.org/drawingml/2006/main">
            <a:off x="5095875" y="2971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263746"/>
                </a:solidFill>
                <a:latin typeface="Arial"/>
                <a:ea typeface="Arial"/>
                <a:cs typeface="Arial"/>
              </a:defRPr>
            </a:pPr>
            <a:r>
              <a:rPr sz="1275" b="0">
                <a:solidFill>
                  <a:srgbClr val="263746"/>
                </a:solidFill>
                <a:latin typeface="Arial"/>
                <a:ea typeface="Arial"/>
                <a:cs typeface="Arial"/>
              </a:rPr>
              <a:t>2 decimals</a:t>
            </a:r>
          </a:p>
        </p:txBody>
      </p:sp>
      <p:sp>
        <p:nvSpPr>
          <p:cNvPr id="14" name="">
            <a:extLst xmlns:a="http://schemas.openxmlformats.org/drawingml/2006/main">
              <a:ext uri="{FF2B5EF4-FFF2-40B4-BE49-F238E27FC236}">
                <a16:creationId xmlns:a16="http://schemas.microsoft.com/office/drawing/2014/main" id="{BCAF90F2-85A5-4377-B716-C1BAA7BE476C}"/>
              </a:ext>
            </a:extLst>
          </p:cNvPr>
          <p:cNvSpPr>
            <a:spLocks xmlns:a="http://schemas.openxmlformats.org/drawingml/2006/main" noGrp="1"/>
          </p:cNvSpPr>
          <p:nvPr/>
        </p:nvSpPr>
        <p:spPr>
          <a:xfrm xmlns:a="http://schemas.openxmlformats.org/drawingml/2006/main">
            <a:off x="6572250" y="24288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0D7C75"/>
                </a:solidFill>
                <a:latin typeface="Arial"/>
                <a:ea typeface="Arial"/>
                <a:cs typeface="Arial"/>
              </a:defRPr>
            </a:pPr>
            <a:r>
              <a:rPr sz="2325" b="1">
                <a:solidFill>
                  <a:srgbClr val="0D7C75"/>
                </a:solidFill>
                <a:latin typeface="Arial"/>
                <a:ea typeface="Arial"/>
                <a:cs typeface="Arial"/>
              </a:rPr>
              <a:t>JPY</a:t>
            </a:r>
          </a:p>
        </p:txBody>
      </p:sp>
      <p:sp>
        <p:nvSpPr>
          <p:cNvPr id="15" name="">
            <a:extLst xmlns:a="http://schemas.openxmlformats.org/drawingml/2006/main">
              <a:ext uri="{FF2B5EF4-FFF2-40B4-BE49-F238E27FC236}">
                <a16:creationId xmlns:a16="http://schemas.microsoft.com/office/drawing/2014/main" id="{63A9968B-42E0-40BE-9278-7FCCB10CD640}"/>
              </a:ext>
            </a:extLst>
          </p:cNvPr>
          <p:cNvSpPr>
            <a:spLocks xmlns:a="http://schemas.openxmlformats.org/drawingml/2006/main" noGrp="1"/>
          </p:cNvSpPr>
          <p:nvPr/>
        </p:nvSpPr>
        <p:spPr>
          <a:xfrm xmlns:a="http://schemas.openxmlformats.org/drawingml/2006/main">
            <a:off x="6572250" y="2971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263746"/>
                </a:solidFill>
                <a:latin typeface="Arial"/>
                <a:ea typeface="Arial"/>
                <a:cs typeface="Arial"/>
              </a:defRPr>
            </a:pPr>
            <a:r>
              <a:rPr sz="1275" b="0">
                <a:solidFill>
                  <a:srgbClr val="263746"/>
                </a:solidFill>
                <a:latin typeface="Arial"/>
                <a:ea typeface="Arial"/>
                <a:cs typeface="Arial"/>
              </a:rPr>
              <a:t>0 decimals</a:t>
            </a:r>
          </a:p>
        </p:txBody>
      </p:sp>
      <p:sp>
        <p:nvSpPr>
          <p:cNvPr id="16" name="">
            <a:extLst xmlns:a="http://schemas.openxmlformats.org/drawingml/2006/main">
              <a:ext uri="{FF2B5EF4-FFF2-40B4-BE49-F238E27FC236}">
                <a16:creationId xmlns:a16="http://schemas.microsoft.com/office/drawing/2014/main" id="{2EF4ECCB-744D-43E4-B9AC-DA3EBB0AE43F}"/>
              </a:ext>
            </a:extLst>
          </p:cNvPr>
          <p:cNvSpPr>
            <a:spLocks xmlns:a="http://schemas.openxmlformats.org/drawingml/2006/main" noGrp="1"/>
          </p:cNvSpPr>
          <p:nvPr/>
        </p:nvSpPr>
        <p:spPr>
          <a:xfrm xmlns:a="http://schemas.openxmlformats.org/drawingml/2006/main">
            <a:off x="8048625" y="24288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D9A62E"/>
                </a:solidFill>
                <a:latin typeface="Arial"/>
                <a:ea typeface="Arial"/>
                <a:cs typeface="Arial"/>
              </a:defRPr>
            </a:pPr>
            <a:r>
              <a:rPr sz="2325" b="1">
                <a:solidFill>
                  <a:srgbClr val="D9A62E"/>
                </a:solidFill>
                <a:latin typeface="Arial"/>
                <a:ea typeface="Arial"/>
                <a:cs typeface="Arial"/>
              </a:rPr>
              <a:t>AED</a:t>
            </a:r>
          </a:p>
        </p:txBody>
      </p:sp>
      <p:sp>
        <p:nvSpPr>
          <p:cNvPr id="17" name="">
            <a:extLst xmlns:a="http://schemas.openxmlformats.org/drawingml/2006/main">
              <a:ext uri="{FF2B5EF4-FFF2-40B4-BE49-F238E27FC236}">
                <a16:creationId xmlns:a16="http://schemas.microsoft.com/office/drawing/2014/main" id="{965D5E6E-8C7D-40F4-BF77-B8BFF0C1A198}"/>
              </a:ext>
            </a:extLst>
          </p:cNvPr>
          <p:cNvSpPr>
            <a:spLocks xmlns:a="http://schemas.openxmlformats.org/drawingml/2006/main" noGrp="1"/>
          </p:cNvSpPr>
          <p:nvPr/>
        </p:nvSpPr>
        <p:spPr>
          <a:xfrm xmlns:a="http://schemas.openxmlformats.org/drawingml/2006/main">
            <a:off x="8048625" y="2971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263746"/>
                </a:solidFill>
                <a:latin typeface="Arial"/>
                <a:ea typeface="Arial"/>
                <a:cs typeface="Arial"/>
              </a:defRPr>
            </a:pPr>
            <a:r>
              <a:rPr sz="1275" b="0">
                <a:solidFill>
                  <a:srgbClr val="263746"/>
                </a:solidFill>
                <a:latin typeface="Arial"/>
                <a:ea typeface="Arial"/>
                <a:cs typeface="Arial"/>
              </a:rPr>
              <a:t>2 decimals</a:t>
            </a:r>
          </a:p>
        </p:txBody>
      </p:sp>
      <p:sp>
        <p:nvSpPr>
          <p:cNvPr id="18" name="">
            <a:extLst xmlns:a="http://schemas.openxmlformats.org/drawingml/2006/main">
              <a:ext uri="{FF2B5EF4-FFF2-40B4-BE49-F238E27FC236}">
                <a16:creationId xmlns:a16="http://schemas.microsoft.com/office/drawing/2014/main" id="{CE3565B4-EACF-40C3-A6BE-486270EB8E29}"/>
              </a:ext>
            </a:extLst>
          </p:cNvPr>
          <p:cNvSpPr>
            <a:spLocks xmlns:a="http://schemas.openxmlformats.org/drawingml/2006/main" noGrp="1"/>
          </p:cNvSpPr>
          <p:nvPr/>
        </p:nvSpPr>
        <p:spPr>
          <a:xfrm xmlns:a="http://schemas.openxmlformats.org/drawingml/2006/main">
            <a:off x="9525000" y="24288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0D7C75"/>
                </a:solidFill>
                <a:latin typeface="Arial"/>
                <a:ea typeface="Arial"/>
                <a:cs typeface="Arial"/>
              </a:defRPr>
            </a:pPr>
            <a:r>
              <a:rPr sz="2325" b="1">
                <a:solidFill>
                  <a:srgbClr val="0D7C75"/>
                </a:solidFill>
                <a:latin typeface="Arial"/>
                <a:ea typeface="Arial"/>
                <a:cs typeface="Arial"/>
              </a:rPr>
              <a:t>KWD</a:t>
            </a:r>
          </a:p>
        </p:txBody>
      </p:sp>
      <p:sp>
        <p:nvSpPr>
          <p:cNvPr id="19" name="">
            <a:extLst xmlns:a="http://schemas.openxmlformats.org/drawingml/2006/main">
              <a:ext uri="{FF2B5EF4-FFF2-40B4-BE49-F238E27FC236}">
                <a16:creationId xmlns:a16="http://schemas.microsoft.com/office/drawing/2014/main" id="{419A0D5C-104C-477A-9581-5F104B322F8B}"/>
              </a:ext>
            </a:extLst>
          </p:cNvPr>
          <p:cNvSpPr>
            <a:spLocks xmlns:a="http://schemas.openxmlformats.org/drawingml/2006/main" noGrp="1"/>
          </p:cNvSpPr>
          <p:nvPr/>
        </p:nvSpPr>
        <p:spPr>
          <a:xfrm xmlns:a="http://schemas.openxmlformats.org/drawingml/2006/main">
            <a:off x="9525000" y="2971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263746"/>
                </a:solidFill>
                <a:latin typeface="Arial"/>
                <a:ea typeface="Arial"/>
                <a:cs typeface="Arial"/>
              </a:defRPr>
            </a:pPr>
            <a:r>
              <a:rPr sz="1275" b="0">
                <a:solidFill>
                  <a:srgbClr val="263746"/>
                </a:solidFill>
                <a:latin typeface="Arial"/>
                <a:ea typeface="Arial"/>
                <a:cs typeface="Arial"/>
              </a:rPr>
              <a:t>3 decimals</a:t>
            </a:r>
          </a:p>
        </p:txBody>
      </p:sp>
      <p:sp>
        <p:nvSpPr>
          <p:cNvPr id="20" name="">
            <a:extLst xmlns:a="http://schemas.openxmlformats.org/drawingml/2006/main">
              <a:ext uri="{FF2B5EF4-FFF2-40B4-BE49-F238E27FC236}">
                <a16:creationId xmlns:a16="http://schemas.microsoft.com/office/drawing/2014/main" id="{45419569-5E64-470E-9712-432811507AE2}"/>
              </a:ext>
            </a:extLst>
          </p:cNvPr>
          <p:cNvSpPr>
            <a:spLocks xmlns:a="http://schemas.openxmlformats.org/drawingml/2006/main" noGrp="1"/>
          </p:cNvSpPr>
          <p:nvPr/>
        </p:nvSpPr>
        <p:spPr>
          <a:xfrm xmlns:a="http://schemas.openxmlformats.org/drawingml/2006/main">
            <a:off x="819150" y="4162425"/>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96C50AF-3ACF-477B-B78F-08B05A05F97C}"/>
              </a:ext>
            </a:extLst>
          </p:cNvPr>
          <p:cNvSpPr>
            <a:spLocks xmlns:a="http://schemas.openxmlformats.org/drawingml/2006/main" noGrp="1"/>
          </p:cNvSpPr>
          <p:nvPr/>
        </p:nvSpPr>
        <p:spPr>
          <a:xfrm xmlns:a="http://schemas.openxmlformats.org/drawingml/2006/main">
            <a:off x="1085850" y="4048125"/>
            <a:ext cx="9544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Product currency must equal account currency</a:t>
            </a:r>
          </a:p>
        </p:txBody>
      </p:sp>
      <p:sp>
        <p:nvSpPr>
          <p:cNvPr id="22" name="">
            <a:extLst xmlns:a="http://schemas.openxmlformats.org/drawingml/2006/main">
              <a:ext uri="{FF2B5EF4-FFF2-40B4-BE49-F238E27FC236}">
                <a16:creationId xmlns:a16="http://schemas.microsoft.com/office/drawing/2014/main" id="{631475CD-BEF2-44BA-9207-47834164BB43}"/>
              </a:ext>
            </a:extLst>
          </p:cNvPr>
          <p:cNvSpPr>
            <a:spLocks xmlns:a="http://schemas.openxmlformats.org/drawingml/2006/main" noGrp="1"/>
          </p:cNvSpPr>
          <p:nvPr/>
        </p:nvSpPr>
        <p:spPr>
          <a:xfrm xmlns:a="http://schemas.openxmlformats.org/drawingml/2006/main">
            <a:off x="819150" y="4752975"/>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83D780A-73A9-4742-B8F8-6619B22A02C5}"/>
              </a:ext>
            </a:extLst>
          </p:cNvPr>
          <p:cNvSpPr>
            <a:spLocks xmlns:a="http://schemas.openxmlformats.org/drawingml/2006/main" noGrp="1"/>
          </p:cNvSpPr>
          <p:nvPr/>
        </p:nvSpPr>
        <p:spPr>
          <a:xfrm xmlns:a="http://schemas.openxmlformats.org/drawingml/2006/main">
            <a:off x="1085850" y="4638675"/>
            <a:ext cx="9544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JPY rejects fractional values while KWD preserves three decimal places</a:t>
            </a:r>
          </a:p>
        </p:txBody>
      </p:sp>
      <p:sp>
        <p:nvSpPr>
          <p:cNvPr id="24" name="">
            <a:extLst xmlns:a="http://schemas.openxmlformats.org/drawingml/2006/main">
              <a:ext uri="{FF2B5EF4-FFF2-40B4-BE49-F238E27FC236}">
                <a16:creationId xmlns:a16="http://schemas.microsoft.com/office/drawing/2014/main" id="{373E3262-3366-460E-9815-E34D3EDDC68C}"/>
              </a:ext>
            </a:extLst>
          </p:cNvPr>
          <p:cNvSpPr>
            <a:spLocks xmlns:a="http://schemas.openxmlformats.org/drawingml/2006/main" noGrp="1"/>
          </p:cNvSpPr>
          <p:nvPr/>
        </p:nvSpPr>
        <p:spPr>
          <a:xfrm xmlns:a="http://schemas.openxmlformats.org/drawingml/2006/main">
            <a:off x="819150" y="5343525"/>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A84495E-AEB9-48C5-A3BC-BECF5BEBCF77}"/>
              </a:ext>
            </a:extLst>
          </p:cNvPr>
          <p:cNvSpPr>
            <a:spLocks xmlns:a="http://schemas.openxmlformats.org/drawingml/2006/main" noGrp="1"/>
          </p:cNvSpPr>
          <p:nvPr/>
        </p:nvSpPr>
        <p:spPr>
          <a:xfrm xmlns:a="http://schemas.openxmlformats.org/drawingml/2006/main">
            <a:off x="1085850" y="5229225"/>
            <a:ext cx="9544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Interest and maturity results round using the account currency rule</a:t>
            </a:r>
          </a:p>
        </p:txBody>
      </p:sp>
    </p:spTree>
    <p:extLst>
      <p:ext uri="{BB962C8B-B14F-4D97-AF65-F5344CB8AC3E}">
        <p14:creationId xmlns:p14="http://schemas.microsoft.com/office/powerpoint/2010/main" val="13231362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827EED-CC37-4A3D-89BE-FEAB46F814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3E08A9-BA8C-4D7D-BEA8-D6EE1D1571B9}"/>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D7C75"/>
                </a:solidFill>
                <a:latin typeface="Arial"/>
                <a:ea typeface="Arial"/>
                <a:cs typeface="Arial"/>
              </a:defRPr>
            </a:pPr>
            <a:r>
              <a:rPr sz="1050" b="1">
                <a:solidFill>
                  <a:srgbClr val="0D7C75"/>
                </a:solidFill>
                <a:latin typeface="Arial"/>
                <a:ea typeface="Arial"/>
                <a:cs typeface="Arial"/>
              </a:rPr>
              <a:t>ACCESS CONTROL</a:t>
            </a:r>
          </a:p>
        </p:txBody>
      </p:sp>
      <p:sp>
        <p:nvSpPr>
          <p:cNvPr id="3" name="">
            <a:extLst xmlns:a="http://schemas.openxmlformats.org/drawingml/2006/main">
              <a:ext uri="{FF2B5EF4-FFF2-40B4-BE49-F238E27FC236}">
                <a16:creationId xmlns:a16="http://schemas.microsoft.com/office/drawing/2014/main" id="{AF793B97-8FD1-4FED-B3B6-1E79ED0E5F2F}"/>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53F"/>
                </a:solidFill>
                <a:latin typeface="Arial"/>
                <a:ea typeface="Arial"/>
                <a:cs typeface="Arial"/>
              </a:defRPr>
            </a:pPr>
            <a:r>
              <a:rPr sz="2850" b="1">
                <a:solidFill>
                  <a:srgbClr val="10253F"/>
                </a:solidFill>
                <a:latin typeface="Arial"/>
                <a:ea typeface="Arial"/>
                <a:cs typeface="Arial"/>
              </a:rPr>
              <a:t>Security boundaries</a:t>
            </a:r>
          </a:p>
        </p:txBody>
      </p:sp>
      <p:sp>
        <p:nvSpPr>
          <p:cNvPr id="4" name="">
            <a:extLst xmlns:a="http://schemas.openxmlformats.org/drawingml/2006/main">
              <a:ext uri="{FF2B5EF4-FFF2-40B4-BE49-F238E27FC236}">
                <a16:creationId xmlns:a16="http://schemas.microsoft.com/office/drawing/2014/main" id="{F2AEEC89-CFD8-4DA8-AACA-CF635512CA3B}"/>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D7C75"/>
                </a:solidFill>
                <a:latin typeface="Arial"/>
                <a:ea typeface="Arial"/>
                <a:cs typeface="Arial"/>
              </a:defRPr>
            </a:pPr>
            <a:r>
              <a:rPr sz="1125" b="1">
                <a:solidFill>
                  <a:srgbClr val="0D7C7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584C8A0-12DE-4CD8-A7BD-0586A7DBBAE2}"/>
              </a:ext>
            </a:extLst>
          </p:cNvPr>
          <p:cNvSpPr>
            <a:spLocks xmlns:a="http://schemas.openxmlformats.org/drawingml/2006/main" noGrp="1"/>
          </p:cNvSpPr>
          <p:nvPr/>
        </p:nvSpPr>
        <p:spPr>
          <a:xfrm xmlns:a="http://schemas.openxmlformats.org/drawingml/2006/main">
            <a:off x="714375" y="166687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D7C75"/>
                </a:solidFill>
                <a:latin typeface="Arial"/>
                <a:ea typeface="Arial"/>
                <a:cs typeface="Arial"/>
              </a:defRPr>
            </a:pPr>
            <a:r>
              <a:rPr sz="1800" b="1">
                <a:solidFill>
                  <a:srgbClr val="0D7C75"/>
                </a:solidFill>
                <a:latin typeface="Arial"/>
                <a:ea typeface="Arial"/>
                <a:cs typeface="Arial"/>
              </a:rPr>
              <a:t>ADMIN</a:t>
            </a:r>
          </a:p>
        </p:txBody>
      </p:sp>
      <p:sp>
        <p:nvSpPr>
          <p:cNvPr id="6" name="">
            <a:extLst xmlns:a="http://schemas.openxmlformats.org/drawingml/2006/main">
              <a:ext uri="{FF2B5EF4-FFF2-40B4-BE49-F238E27FC236}">
                <a16:creationId xmlns:a16="http://schemas.microsoft.com/office/drawing/2014/main" id="{E6EA1135-4DE4-4E6D-BFCA-21DA0C426FD9}"/>
              </a:ext>
            </a:extLst>
          </p:cNvPr>
          <p:cNvSpPr>
            <a:spLocks xmlns:a="http://schemas.openxmlformats.org/drawingml/2006/main" noGrp="1"/>
          </p:cNvSpPr>
          <p:nvPr/>
        </p:nvSpPr>
        <p:spPr>
          <a:xfrm xmlns:a="http://schemas.openxmlformats.org/drawingml/2006/main">
            <a:off x="3238500" y="1666875"/>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Products, batch jobs, time travel, all accounts</a:t>
            </a:r>
          </a:p>
        </p:txBody>
      </p:sp>
      <p:sp>
        <p:nvSpPr>
          <p:cNvPr id="7" name="">
            <a:extLst xmlns:a="http://schemas.openxmlformats.org/drawingml/2006/main">
              <a:ext uri="{FF2B5EF4-FFF2-40B4-BE49-F238E27FC236}">
                <a16:creationId xmlns:a16="http://schemas.microsoft.com/office/drawing/2014/main" id="{D7C5A84B-B340-4897-A9D3-2387E7BA5D68}"/>
              </a:ext>
            </a:extLst>
          </p:cNvPr>
          <p:cNvSpPr>
            <a:spLocks xmlns:a="http://schemas.openxmlformats.org/drawingml/2006/main" noGrp="1"/>
          </p:cNvSpPr>
          <p:nvPr/>
        </p:nvSpPr>
        <p:spPr>
          <a:xfrm xmlns:a="http://schemas.openxmlformats.org/drawingml/2006/main">
            <a:off x="714375" y="2409825"/>
            <a:ext cx="10048875" cy="19050"/>
          </a:xfrm>
          <a:prstGeom xmlns:a="http://schemas.openxmlformats.org/drawingml/2006/main" prst="rect">
            <a:avLst/>
          </a:prstGeom>
          <a:solidFill xmlns:a="http://schemas.openxmlformats.org/drawingml/2006/main">
            <a:srgbClr val="DDF2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2961F0-E878-4431-9D06-BD5E554C4289}"/>
              </a:ext>
            </a:extLst>
          </p:cNvPr>
          <p:cNvSpPr>
            <a:spLocks xmlns:a="http://schemas.openxmlformats.org/drawingml/2006/main" noGrp="1"/>
          </p:cNvSpPr>
          <p:nvPr/>
        </p:nvSpPr>
        <p:spPr>
          <a:xfrm xmlns:a="http://schemas.openxmlformats.org/drawingml/2006/main">
            <a:off x="714375" y="28289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D9A62E"/>
                </a:solidFill>
                <a:latin typeface="Arial"/>
                <a:ea typeface="Arial"/>
                <a:cs typeface="Arial"/>
              </a:defRPr>
            </a:pPr>
            <a:r>
              <a:rPr sz="1800" b="1">
                <a:solidFill>
                  <a:srgbClr val="D9A62E"/>
                </a:solidFill>
                <a:latin typeface="Arial"/>
                <a:ea typeface="Arial"/>
                <a:cs typeface="Arial"/>
              </a:rPr>
              <a:t>BANK OFFICER</a:t>
            </a:r>
          </a:p>
        </p:txBody>
      </p:sp>
      <p:sp>
        <p:nvSpPr>
          <p:cNvPr id="9" name="">
            <a:extLst xmlns:a="http://schemas.openxmlformats.org/drawingml/2006/main">
              <a:ext uri="{FF2B5EF4-FFF2-40B4-BE49-F238E27FC236}">
                <a16:creationId xmlns:a16="http://schemas.microsoft.com/office/drawing/2014/main" id="{651282D3-56CF-4CDF-BA78-E5108F7C3D2D}"/>
              </a:ext>
            </a:extLst>
          </p:cNvPr>
          <p:cNvSpPr>
            <a:spLocks xmlns:a="http://schemas.openxmlformats.org/drawingml/2006/main" noGrp="1"/>
          </p:cNvSpPr>
          <p:nvPr/>
        </p:nvSpPr>
        <p:spPr>
          <a:xfrm xmlns:a="http://schemas.openxmlformats.org/drawingml/2006/main">
            <a:off x="3238500" y="2828925"/>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Create FD, inspect accounts, process withdrawals</a:t>
            </a:r>
          </a:p>
        </p:txBody>
      </p:sp>
      <p:sp>
        <p:nvSpPr>
          <p:cNvPr id="10" name="">
            <a:extLst xmlns:a="http://schemas.openxmlformats.org/drawingml/2006/main">
              <a:ext uri="{FF2B5EF4-FFF2-40B4-BE49-F238E27FC236}">
                <a16:creationId xmlns:a16="http://schemas.microsoft.com/office/drawing/2014/main" id="{5CE6AD7A-B75D-4CE3-BA31-BA46A054FE05}"/>
              </a:ext>
            </a:extLst>
          </p:cNvPr>
          <p:cNvSpPr>
            <a:spLocks xmlns:a="http://schemas.openxmlformats.org/drawingml/2006/main" noGrp="1"/>
          </p:cNvSpPr>
          <p:nvPr/>
        </p:nvSpPr>
        <p:spPr>
          <a:xfrm xmlns:a="http://schemas.openxmlformats.org/drawingml/2006/main">
            <a:off x="714375" y="3571875"/>
            <a:ext cx="10048875" cy="19050"/>
          </a:xfrm>
          <a:prstGeom xmlns:a="http://schemas.openxmlformats.org/drawingml/2006/main" prst="rect">
            <a:avLst/>
          </a:prstGeom>
          <a:solidFill xmlns:a="http://schemas.openxmlformats.org/drawingml/2006/main">
            <a:srgbClr val="DDF2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11BF87-B68F-450F-A2E0-9894EC2C22AA}"/>
              </a:ext>
            </a:extLst>
          </p:cNvPr>
          <p:cNvSpPr>
            <a:spLocks xmlns:a="http://schemas.openxmlformats.org/drawingml/2006/main" noGrp="1"/>
          </p:cNvSpPr>
          <p:nvPr/>
        </p:nvSpPr>
        <p:spPr>
          <a:xfrm xmlns:a="http://schemas.openxmlformats.org/drawingml/2006/main">
            <a:off x="714375" y="399097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D7C75"/>
                </a:solidFill>
                <a:latin typeface="Arial"/>
                <a:ea typeface="Arial"/>
                <a:cs typeface="Arial"/>
              </a:defRPr>
            </a:pPr>
            <a:r>
              <a:rPr sz="1800" b="1">
                <a:solidFill>
                  <a:srgbClr val="0D7C75"/>
                </a:solidFill>
                <a:latin typeface="Arial"/>
                <a:ea typeface="Arial"/>
                <a:cs typeface="Arial"/>
              </a:rPr>
              <a:t>CUSTOMER</a:t>
            </a:r>
          </a:p>
        </p:txBody>
      </p:sp>
      <p:sp>
        <p:nvSpPr>
          <p:cNvPr id="12" name="">
            <a:extLst xmlns:a="http://schemas.openxmlformats.org/drawingml/2006/main">
              <a:ext uri="{FF2B5EF4-FFF2-40B4-BE49-F238E27FC236}">
                <a16:creationId xmlns:a16="http://schemas.microsoft.com/office/drawing/2014/main" id="{F0F235D2-F43B-4114-98C9-AC52B503C60D}"/>
              </a:ext>
            </a:extLst>
          </p:cNvPr>
          <p:cNvSpPr>
            <a:spLocks xmlns:a="http://schemas.openxmlformats.org/drawingml/2006/main" noGrp="1"/>
          </p:cNvSpPr>
          <p:nvPr/>
        </p:nvSpPr>
        <p:spPr>
          <a:xfrm xmlns:a="http://schemas.openxmlformats.org/drawingml/2006/main">
            <a:off x="3238500" y="3990975"/>
            <a:ext cx="752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63746"/>
                </a:solidFill>
                <a:latin typeface="Arial"/>
                <a:ea typeface="Arial"/>
                <a:cs typeface="Arial"/>
              </a:defRPr>
            </a:pPr>
            <a:r>
              <a:rPr sz="1725" b="0">
                <a:solidFill>
                  <a:srgbClr val="263746"/>
                </a:solidFill>
                <a:latin typeface="Arial"/>
                <a:ea typeface="Arial"/>
                <a:cs typeface="Arial"/>
              </a:rPr>
              <a:t>Own portfolio, account details, transactions and statements</a:t>
            </a:r>
          </a:p>
        </p:txBody>
      </p:sp>
      <p:sp>
        <p:nvSpPr>
          <p:cNvPr id="13" name="">
            <a:extLst xmlns:a="http://schemas.openxmlformats.org/drawingml/2006/main">
              <a:ext uri="{FF2B5EF4-FFF2-40B4-BE49-F238E27FC236}">
                <a16:creationId xmlns:a16="http://schemas.microsoft.com/office/drawing/2014/main" id="{A69CFACC-F187-418A-955B-9490E577A60F}"/>
              </a:ext>
            </a:extLst>
          </p:cNvPr>
          <p:cNvSpPr>
            <a:spLocks xmlns:a="http://schemas.openxmlformats.org/drawingml/2006/main" noGrp="1"/>
          </p:cNvSpPr>
          <p:nvPr/>
        </p:nvSpPr>
        <p:spPr>
          <a:xfrm xmlns:a="http://schemas.openxmlformats.org/drawingml/2006/main">
            <a:off x="714375" y="4733925"/>
            <a:ext cx="10048875" cy="19050"/>
          </a:xfrm>
          <a:prstGeom xmlns:a="http://schemas.openxmlformats.org/drawingml/2006/main" prst="rect">
            <a:avLst/>
          </a:prstGeom>
          <a:solidFill xmlns:a="http://schemas.openxmlformats.org/drawingml/2006/main">
            <a:srgbClr val="DDF2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40479A7-772E-4B79-B975-DB8B97046E51}"/>
              </a:ext>
            </a:extLst>
          </p:cNvPr>
          <p:cNvSpPr>
            <a:spLocks xmlns:a="http://schemas.openxmlformats.org/drawingml/2006/main" noGrp="1"/>
          </p:cNvSpPr>
          <p:nvPr/>
        </p:nvSpPr>
        <p:spPr>
          <a:xfrm xmlns:a="http://schemas.openxmlformats.org/drawingml/2006/main">
            <a:off x="714375" y="5334000"/>
            <a:ext cx="1004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927"/>
          </a:bodyPr>
          <a:lstStyle xmlns:a="http://schemas.openxmlformats.org/drawingml/2006/main"/>
          <a:p xmlns:a="http://schemas.openxmlformats.org/drawingml/2006/main">
            <a:pPr algn="l">
              <a:defRPr sz="1725" b="1">
                <a:solidFill>
                  <a:srgbClr val="10253F"/>
                </a:solidFill>
                <a:latin typeface="Arial"/>
                <a:ea typeface="Arial"/>
                <a:cs typeface="Arial"/>
              </a:defRPr>
            </a:pPr>
            <a:r>
              <a:rPr sz="1725" b="1">
                <a:solidFill>
                  <a:srgbClr val="10253F"/>
                </a:solidFill>
                <a:latin typeface="Arial"/>
                <a:ea typeface="Arial"/>
                <a:cs typeface="Arial"/>
              </a:rPr>
              <a:t>Customer ownership checks prevent account-number guessing. Secrets come from environment variables or Kubernetes Secret references.</a:t>
            </a:r>
          </a:p>
        </p:txBody>
      </p:sp>
    </p:spTree>
    <p:extLst>
      <p:ext uri="{BB962C8B-B14F-4D97-AF65-F5344CB8AC3E}">
        <p14:creationId xmlns:p14="http://schemas.microsoft.com/office/powerpoint/2010/main" val="1107381162"/>
      </p:ext>
    </p:extLst>
  </p:cSld>
</p:sld>
</file>

<file path=ppt/slides/slide7.xml><?xml version="1.0" encoding="utf-8"?>
<p:sld xmlns:p="http://schemas.openxmlformats.org/presentationml/2006/main">
  <p:cSld>
    <p:bg>
      <p:bgPr>
        <a:solidFill xmlns:a="http://schemas.openxmlformats.org/drawingml/2006/main">
          <a:srgbClr val="10253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A8AE696-40F1-446A-A5CC-FC9A27625267}"/>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D9A62E"/>
                </a:solidFill>
                <a:latin typeface="Arial"/>
                <a:ea typeface="Arial"/>
                <a:cs typeface="Arial"/>
              </a:defRPr>
            </a:pPr>
            <a:r>
              <a:rPr sz="1050" b="1">
                <a:solidFill>
                  <a:srgbClr val="D9A62E"/>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F30874E8-6E87-4CD9-92F2-185CCC76493C}"/>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Reports and notifications</a:t>
            </a:r>
          </a:p>
        </p:txBody>
      </p:sp>
      <p:sp>
        <p:nvSpPr>
          <p:cNvPr id="3" name="">
            <a:extLst xmlns:a="http://schemas.openxmlformats.org/drawingml/2006/main">
              <a:ext uri="{FF2B5EF4-FFF2-40B4-BE49-F238E27FC236}">
                <a16:creationId xmlns:a16="http://schemas.microsoft.com/office/drawing/2014/main" id="{B7E186EF-4D3A-4871-AB36-AD83C300CAB2}"/>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DDF2EE"/>
                </a:solidFill>
                <a:latin typeface="Arial"/>
                <a:ea typeface="Arial"/>
                <a:cs typeface="Arial"/>
              </a:defRPr>
            </a:pPr>
            <a:r>
              <a:rPr sz="1125" b="1">
                <a:solidFill>
                  <a:srgbClr val="DDF2E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5149C21-BB6A-49CE-9550-3302907C76C2}"/>
              </a:ext>
            </a:extLst>
          </p:cNvPr>
          <p:cNvSpPr>
            <a:spLocks xmlns:a="http://schemas.openxmlformats.org/drawingml/2006/main" noGrp="1"/>
          </p:cNvSpPr>
          <p:nvPr/>
        </p:nvSpPr>
        <p:spPr>
          <a:xfrm xmlns:a="http://schemas.openxmlformats.org/drawingml/2006/main">
            <a:off x="666750" y="16192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9A62E"/>
                </a:solidFill>
                <a:latin typeface="Arial"/>
                <a:ea typeface="Arial"/>
                <a:cs typeface="Arial"/>
              </a:defRPr>
            </a:pPr>
            <a:r>
              <a:rPr sz="1350" b="1">
                <a:solidFill>
                  <a:srgbClr val="D9A62E"/>
                </a:solidFill>
                <a:latin typeface="Arial"/>
                <a:ea typeface="Arial"/>
                <a:cs typeface="Arial"/>
              </a:rPr>
              <a:t>REPORTS</a:t>
            </a:r>
          </a:p>
        </p:txBody>
      </p:sp>
      <p:sp>
        <p:nvSpPr>
          <p:cNvPr id="5" name="">
            <a:extLst xmlns:a="http://schemas.openxmlformats.org/drawingml/2006/main">
              <a:ext uri="{FF2B5EF4-FFF2-40B4-BE49-F238E27FC236}">
                <a16:creationId xmlns:a16="http://schemas.microsoft.com/office/drawing/2014/main" id="{70AE4D94-6180-4EAD-9CC0-A19CC30936DF}"/>
              </a:ext>
            </a:extLst>
          </p:cNvPr>
          <p:cNvSpPr>
            <a:spLocks xmlns:a="http://schemas.openxmlformats.org/drawingml/2006/main" noGrp="1"/>
          </p:cNvSpPr>
          <p:nvPr/>
        </p:nvSpPr>
        <p:spPr>
          <a:xfrm xmlns:a="http://schemas.openxmlformats.org/drawingml/2006/main">
            <a:off x="742950" y="22669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F3E08C-E425-49AF-835D-7C47625E414A}"/>
              </a:ext>
            </a:extLst>
          </p:cNvPr>
          <p:cNvSpPr>
            <a:spLocks xmlns:a="http://schemas.openxmlformats.org/drawingml/2006/main" noGrp="1"/>
          </p:cNvSpPr>
          <p:nvPr/>
        </p:nvSpPr>
        <p:spPr>
          <a:xfrm xmlns:a="http://schemas.openxmlformats.org/drawingml/2006/main">
            <a:off x="1009650" y="21526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Portfolio summary as CSV</a:t>
            </a:r>
          </a:p>
        </p:txBody>
      </p:sp>
      <p:sp>
        <p:nvSpPr>
          <p:cNvPr id="7" name="">
            <a:extLst xmlns:a="http://schemas.openxmlformats.org/drawingml/2006/main">
              <a:ext uri="{FF2B5EF4-FFF2-40B4-BE49-F238E27FC236}">
                <a16:creationId xmlns:a16="http://schemas.microsoft.com/office/drawing/2014/main" id="{57714CFB-965E-4AE1-B286-F7056AE3EF65}"/>
              </a:ext>
            </a:extLst>
          </p:cNvPr>
          <p:cNvSpPr>
            <a:spLocks xmlns:a="http://schemas.openxmlformats.org/drawingml/2006/main" noGrp="1"/>
          </p:cNvSpPr>
          <p:nvPr/>
        </p:nvSpPr>
        <p:spPr>
          <a:xfrm xmlns:a="http://schemas.openxmlformats.org/drawingml/2006/main">
            <a:off x="742950" y="295275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9CAA5A-7C95-485B-8C62-1541D4A9C013}"/>
              </a:ext>
            </a:extLst>
          </p:cNvPr>
          <p:cNvSpPr>
            <a:spLocks xmlns:a="http://schemas.openxmlformats.org/drawingml/2006/main" noGrp="1"/>
          </p:cNvSpPr>
          <p:nvPr/>
        </p:nvSpPr>
        <p:spPr>
          <a:xfrm xmlns:a="http://schemas.openxmlformats.org/drawingml/2006/main">
            <a:off x="1009650" y="28384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Printable management PDF</a:t>
            </a:r>
          </a:p>
        </p:txBody>
      </p:sp>
      <p:sp>
        <p:nvSpPr>
          <p:cNvPr id="9" name="">
            <a:extLst xmlns:a="http://schemas.openxmlformats.org/drawingml/2006/main">
              <a:ext uri="{FF2B5EF4-FFF2-40B4-BE49-F238E27FC236}">
                <a16:creationId xmlns:a16="http://schemas.microsoft.com/office/drawing/2014/main" id="{33DA0193-B19F-4C36-91B7-0AC0AD6E8FD1}"/>
              </a:ext>
            </a:extLst>
          </p:cNvPr>
          <p:cNvSpPr>
            <a:spLocks xmlns:a="http://schemas.openxmlformats.org/drawingml/2006/main" noGrp="1"/>
          </p:cNvSpPr>
          <p:nvPr/>
        </p:nvSpPr>
        <p:spPr>
          <a:xfrm xmlns:a="http://schemas.openxmlformats.org/drawingml/2006/main">
            <a:off x="742950" y="36385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3867F04-A9EB-43F8-92E3-32ECD79A0EEB}"/>
              </a:ext>
            </a:extLst>
          </p:cNvPr>
          <p:cNvSpPr>
            <a:spLocks xmlns:a="http://schemas.openxmlformats.org/drawingml/2006/main" noGrp="1"/>
          </p:cNvSpPr>
          <p:nvPr/>
        </p:nvSpPr>
        <p:spPr>
          <a:xfrm xmlns:a="http://schemas.openxmlformats.org/drawingml/2006/main">
            <a:off x="1009650" y="35242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Customer allocation PNG</a:t>
            </a:r>
          </a:p>
        </p:txBody>
      </p:sp>
      <p:sp>
        <p:nvSpPr>
          <p:cNvPr id="11" name="">
            <a:extLst xmlns:a="http://schemas.openxmlformats.org/drawingml/2006/main">
              <a:ext uri="{FF2B5EF4-FFF2-40B4-BE49-F238E27FC236}">
                <a16:creationId xmlns:a16="http://schemas.microsoft.com/office/drawing/2014/main" id="{CD7E9FDA-33D1-4739-9B5A-BC665B496BD6}"/>
              </a:ext>
            </a:extLst>
          </p:cNvPr>
          <p:cNvSpPr>
            <a:spLocks xmlns:a="http://schemas.openxmlformats.org/drawingml/2006/main" noGrp="1"/>
          </p:cNvSpPr>
          <p:nvPr/>
        </p:nvSpPr>
        <p:spPr>
          <a:xfrm xmlns:a="http://schemas.openxmlformats.org/drawingml/2006/main">
            <a:off x="742950" y="432435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DCFA5E4-64CE-4AF4-847D-32C7EF013721}"/>
              </a:ext>
            </a:extLst>
          </p:cNvPr>
          <p:cNvSpPr>
            <a:spLocks xmlns:a="http://schemas.openxmlformats.org/drawingml/2006/main" noGrp="1"/>
          </p:cNvSpPr>
          <p:nvPr/>
        </p:nvSpPr>
        <p:spPr>
          <a:xfrm xmlns:a="http://schemas.openxmlformats.org/drawingml/2006/main">
            <a:off x="1009650" y="42100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Role-specific JSON report API</a:t>
            </a:r>
          </a:p>
        </p:txBody>
      </p:sp>
      <p:sp>
        <p:nvSpPr>
          <p:cNvPr id="13" name="">
            <a:extLst xmlns:a="http://schemas.openxmlformats.org/drawingml/2006/main">
              <a:ext uri="{FF2B5EF4-FFF2-40B4-BE49-F238E27FC236}">
                <a16:creationId xmlns:a16="http://schemas.microsoft.com/office/drawing/2014/main" id="{7C5E456D-BD85-409F-AFEA-F55E0DAE66C7}"/>
              </a:ext>
            </a:extLst>
          </p:cNvPr>
          <p:cNvSpPr>
            <a:spLocks xmlns:a="http://schemas.openxmlformats.org/drawingml/2006/main" noGrp="1"/>
          </p:cNvSpPr>
          <p:nvPr/>
        </p:nvSpPr>
        <p:spPr>
          <a:xfrm xmlns:a="http://schemas.openxmlformats.org/drawingml/2006/main">
            <a:off x="6572250" y="16192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9A62E"/>
                </a:solidFill>
                <a:latin typeface="Arial"/>
                <a:ea typeface="Arial"/>
                <a:cs typeface="Arial"/>
              </a:defRPr>
            </a:pPr>
            <a:r>
              <a:rPr sz="1350" b="1">
                <a:solidFill>
                  <a:srgbClr val="D9A62E"/>
                </a:solidFill>
                <a:latin typeface="Arial"/>
                <a:ea typeface="Arial"/>
                <a:cs typeface="Arial"/>
              </a:rPr>
              <a:t>NOTIFICATIONS</a:t>
            </a:r>
          </a:p>
        </p:txBody>
      </p:sp>
      <p:sp>
        <p:nvSpPr>
          <p:cNvPr id="14" name="">
            <a:extLst xmlns:a="http://schemas.openxmlformats.org/drawingml/2006/main">
              <a:ext uri="{FF2B5EF4-FFF2-40B4-BE49-F238E27FC236}">
                <a16:creationId xmlns:a16="http://schemas.microsoft.com/office/drawing/2014/main" id="{444799F9-0702-4053-B3C4-4365127B26DA}"/>
              </a:ext>
            </a:extLst>
          </p:cNvPr>
          <p:cNvSpPr>
            <a:spLocks xmlns:a="http://schemas.openxmlformats.org/drawingml/2006/main" noGrp="1"/>
          </p:cNvSpPr>
          <p:nvPr/>
        </p:nvSpPr>
        <p:spPr>
          <a:xfrm xmlns:a="http://schemas.openxmlformats.org/drawingml/2006/main">
            <a:off x="6648450" y="22669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5AEF2F-370A-40F1-A704-006A61D0337F}"/>
              </a:ext>
            </a:extLst>
          </p:cNvPr>
          <p:cNvSpPr>
            <a:spLocks xmlns:a="http://schemas.openxmlformats.org/drawingml/2006/main" noGrp="1"/>
          </p:cNvSpPr>
          <p:nvPr/>
        </p:nvSpPr>
        <p:spPr>
          <a:xfrm xmlns:a="http://schemas.openxmlformats.org/drawingml/2006/main">
            <a:off x="6915150" y="21526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Versioned Kafka lifecycle events</a:t>
            </a:r>
          </a:p>
        </p:txBody>
      </p:sp>
      <p:sp>
        <p:nvSpPr>
          <p:cNvPr id="16" name="">
            <a:extLst xmlns:a="http://schemas.openxmlformats.org/drawingml/2006/main">
              <a:ext uri="{FF2B5EF4-FFF2-40B4-BE49-F238E27FC236}">
                <a16:creationId xmlns:a16="http://schemas.microsoft.com/office/drawing/2014/main" id="{77355CFE-1EF0-424E-9854-5D969DD8888A}"/>
              </a:ext>
            </a:extLst>
          </p:cNvPr>
          <p:cNvSpPr>
            <a:spLocks xmlns:a="http://schemas.openxmlformats.org/drawingml/2006/main" noGrp="1"/>
          </p:cNvSpPr>
          <p:nvPr/>
        </p:nvSpPr>
        <p:spPr>
          <a:xfrm xmlns:a="http://schemas.openxmlformats.org/drawingml/2006/main">
            <a:off x="6648450" y="295275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8D1C2BD-7D24-4E9F-8992-140E85704C8C}"/>
              </a:ext>
            </a:extLst>
          </p:cNvPr>
          <p:cNvSpPr>
            <a:spLocks xmlns:a="http://schemas.openxmlformats.org/drawingml/2006/main" noGrp="1"/>
          </p:cNvSpPr>
          <p:nvPr/>
        </p:nvSpPr>
        <p:spPr>
          <a:xfrm xmlns:a="http://schemas.openxmlformats.org/drawingml/2006/main">
            <a:off x="6915150" y="28384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Opening and daily-interest notices</a:t>
            </a:r>
          </a:p>
        </p:txBody>
      </p:sp>
      <p:sp>
        <p:nvSpPr>
          <p:cNvPr id="18" name="">
            <a:extLst xmlns:a="http://schemas.openxmlformats.org/drawingml/2006/main">
              <a:ext uri="{FF2B5EF4-FFF2-40B4-BE49-F238E27FC236}">
                <a16:creationId xmlns:a16="http://schemas.microsoft.com/office/drawing/2014/main" id="{2E9EF9BA-83CB-43D1-B8A0-DB4EF779EA06}"/>
              </a:ext>
            </a:extLst>
          </p:cNvPr>
          <p:cNvSpPr>
            <a:spLocks xmlns:a="http://schemas.openxmlformats.org/drawingml/2006/main" noGrp="1"/>
          </p:cNvSpPr>
          <p:nvPr/>
        </p:nvSpPr>
        <p:spPr>
          <a:xfrm xmlns:a="http://schemas.openxmlformats.org/drawingml/2006/main">
            <a:off x="6648450" y="36385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DF7ABF6-82CC-4789-81D3-FE9521337EC0}"/>
              </a:ext>
            </a:extLst>
          </p:cNvPr>
          <p:cNvSpPr>
            <a:spLocks xmlns:a="http://schemas.openxmlformats.org/drawingml/2006/main" noGrp="1"/>
          </p:cNvSpPr>
          <p:nvPr/>
        </p:nvSpPr>
        <p:spPr>
          <a:xfrm xmlns:a="http://schemas.openxmlformats.org/drawingml/2006/main">
            <a:off x="6915150" y="35242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Maturity and premature closure notices</a:t>
            </a:r>
          </a:p>
        </p:txBody>
      </p:sp>
      <p:sp>
        <p:nvSpPr>
          <p:cNvPr id="20" name="">
            <a:extLst xmlns:a="http://schemas.openxmlformats.org/drawingml/2006/main">
              <a:ext uri="{FF2B5EF4-FFF2-40B4-BE49-F238E27FC236}">
                <a16:creationId xmlns:a16="http://schemas.microsoft.com/office/drawing/2014/main" id="{648E6826-8A37-4E65-B905-1A418153B109}"/>
              </a:ext>
            </a:extLst>
          </p:cNvPr>
          <p:cNvSpPr>
            <a:spLocks xmlns:a="http://schemas.openxmlformats.org/drawingml/2006/main" noGrp="1"/>
          </p:cNvSpPr>
          <p:nvPr/>
        </p:nvSpPr>
        <p:spPr>
          <a:xfrm xmlns:a="http://schemas.openxmlformats.org/drawingml/2006/main">
            <a:off x="6648450" y="432435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B83A3F6-8ACB-4F04-95D3-039025B9C6F0}"/>
              </a:ext>
            </a:extLst>
          </p:cNvPr>
          <p:cNvSpPr>
            <a:spLocks xmlns:a="http://schemas.openxmlformats.org/drawingml/2006/main" noGrp="1"/>
          </p:cNvSpPr>
          <p:nvPr/>
        </p:nvSpPr>
        <p:spPr>
          <a:xfrm xmlns:a="http://schemas.openxmlformats.org/drawingml/2006/main">
            <a:off x="6915150" y="4210050"/>
            <a:ext cx="4210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Idempotent status in notification_log</a:t>
            </a:r>
          </a:p>
        </p:txBody>
      </p:sp>
      <p:sp>
        <p:nvSpPr>
          <p:cNvPr id="22" name="">
            <a:extLst xmlns:a="http://schemas.openxmlformats.org/drawingml/2006/main">
              <a:ext uri="{FF2B5EF4-FFF2-40B4-BE49-F238E27FC236}">
                <a16:creationId xmlns:a16="http://schemas.microsoft.com/office/drawing/2014/main" id="{F1B98E4E-FCFF-4F4D-B104-941BE836DBF1}"/>
              </a:ext>
            </a:extLst>
          </p:cNvPr>
          <p:cNvSpPr>
            <a:spLocks xmlns:a="http://schemas.openxmlformats.org/drawingml/2006/main" noGrp="1"/>
          </p:cNvSpPr>
          <p:nvPr/>
        </p:nvSpPr>
        <p:spPr>
          <a:xfrm xmlns:a="http://schemas.openxmlformats.org/drawingml/2006/main">
            <a:off x="5819775" y="1638300"/>
            <a:ext cx="19050" cy="371475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587331E-62B2-4DE3-9A32-EF955B0897AC}"/>
              </a:ext>
            </a:extLst>
          </p:cNvPr>
          <p:cNvSpPr>
            <a:spLocks xmlns:a="http://schemas.openxmlformats.org/drawingml/2006/main" noGrp="1"/>
          </p:cNvSpPr>
          <p:nvPr/>
        </p:nvSpPr>
        <p:spPr>
          <a:xfrm xmlns:a="http://schemas.openxmlformats.org/drawingml/2006/main">
            <a:off x="819150" y="57340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DDF2EE"/>
                </a:solidFill>
                <a:latin typeface="Arial"/>
                <a:ea typeface="Arial"/>
                <a:cs typeface="Arial"/>
              </a:defRPr>
            </a:pPr>
            <a:r>
              <a:rPr sz="1500" b="1">
                <a:solidFill>
                  <a:srgbClr val="DDF2EE"/>
                </a:solidFill>
                <a:latin typeface="Arial"/>
                <a:ea typeface="Arial"/>
                <a:cs typeface="Arial"/>
              </a:rPr>
              <a:t>Mailpit provides free, visible proof at localhost:8025. Production channels can replace the adapter later.</a:t>
            </a:r>
          </a:p>
        </p:txBody>
      </p:sp>
    </p:spTree>
    <p:extLst>
      <p:ext uri="{BB962C8B-B14F-4D97-AF65-F5344CB8AC3E}">
        <p14:creationId xmlns:p14="http://schemas.microsoft.com/office/powerpoint/2010/main" val="1374070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CF91416-ED4A-42BE-A4E3-01323A3918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130232-9F32-46B3-A0A9-BE5A1563196F}"/>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D7C75"/>
                </a:solidFill>
                <a:latin typeface="Arial"/>
                <a:ea typeface="Arial"/>
                <a:cs typeface="Arial"/>
              </a:defRPr>
            </a:pPr>
            <a:r>
              <a:rPr sz="1050" b="1">
                <a:solidFill>
                  <a:srgbClr val="0D7C75"/>
                </a:solidFill>
                <a:latin typeface="Arial"/>
                <a:ea typeface="Arial"/>
                <a:cs typeface="Arial"/>
              </a:rPr>
              <a:t>QUALITY</a:t>
            </a:r>
          </a:p>
        </p:txBody>
      </p:sp>
      <p:sp>
        <p:nvSpPr>
          <p:cNvPr id="3" name="">
            <a:extLst xmlns:a="http://schemas.openxmlformats.org/drawingml/2006/main">
              <a:ext uri="{FF2B5EF4-FFF2-40B4-BE49-F238E27FC236}">
                <a16:creationId xmlns:a16="http://schemas.microsoft.com/office/drawing/2014/main" id="{56336F61-D0C8-4E9D-BEC0-B492EE8E404E}"/>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53F"/>
                </a:solidFill>
                <a:latin typeface="Arial"/>
                <a:ea typeface="Arial"/>
                <a:cs typeface="Arial"/>
              </a:defRPr>
            </a:pPr>
            <a:r>
              <a:rPr sz="2850" b="1">
                <a:solidFill>
                  <a:srgbClr val="10253F"/>
                </a:solidFill>
                <a:latin typeface="Arial"/>
                <a:ea typeface="Arial"/>
                <a:cs typeface="Arial"/>
              </a:rPr>
              <a:t>Verification evidence</a:t>
            </a:r>
          </a:p>
        </p:txBody>
      </p:sp>
      <p:sp>
        <p:nvSpPr>
          <p:cNvPr id="4" name="">
            <a:extLst xmlns:a="http://schemas.openxmlformats.org/drawingml/2006/main">
              <a:ext uri="{FF2B5EF4-FFF2-40B4-BE49-F238E27FC236}">
                <a16:creationId xmlns:a16="http://schemas.microsoft.com/office/drawing/2014/main" id="{44BE2B8B-3001-431B-BE68-D2C2F96AE857}"/>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D7C75"/>
                </a:solidFill>
                <a:latin typeface="Arial"/>
                <a:ea typeface="Arial"/>
                <a:cs typeface="Arial"/>
              </a:defRPr>
            </a:pPr>
            <a:r>
              <a:rPr sz="1125" b="1">
                <a:solidFill>
                  <a:srgbClr val="0D7C7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4A94C17C-33A4-4D1B-AE2D-07AD420849F3}"/>
              </a:ext>
            </a:extLst>
          </p:cNvPr>
          <p:cNvSpPr>
            <a:spLocks xmlns:a="http://schemas.openxmlformats.org/drawingml/2006/main" noGrp="1"/>
          </p:cNvSpPr>
          <p:nvPr/>
        </p:nvSpPr>
        <p:spPr>
          <a:xfrm xmlns:a="http://schemas.openxmlformats.org/drawingml/2006/main">
            <a:off x="723900" y="14763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7C75"/>
                </a:solidFill>
                <a:latin typeface="Arial"/>
                <a:ea typeface="Arial"/>
                <a:cs typeface="Arial"/>
              </a:defRPr>
            </a:pPr>
            <a:r>
              <a:rPr sz="2100" b="1">
                <a:solidFill>
                  <a:srgbClr val="0D7C75"/>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5FFB48CF-5923-45C6-B8D2-534BAF97B0A8}"/>
              </a:ext>
            </a:extLst>
          </p:cNvPr>
          <p:cNvSpPr>
            <a:spLocks xmlns:a="http://schemas.openxmlformats.org/drawingml/2006/main" noGrp="1"/>
          </p:cNvSpPr>
          <p:nvPr/>
        </p:nvSpPr>
        <p:spPr>
          <a:xfrm xmlns:a="http://schemas.openxmlformats.org/drawingml/2006/main">
            <a:off x="1381125" y="147637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53F"/>
                </a:solidFill>
                <a:latin typeface="Arial"/>
                <a:ea typeface="Arial"/>
                <a:cs typeface="Arial"/>
              </a:defRPr>
            </a:pPr>
            <a:r>
              <a:rPr sz="1650" b="1">
                <a:solidFill>
                  <a:srgbClr val="10253F"/>
                </a:solidFill>
                <a:latin typeface="Arial"/>
                <a:ea typeface="Arial"/>
                <a:cs typeface="Arial"/>
              </a:rPr>
              <a:t>Spring Boot</a:t>
            </a:r>
          </a:p>
        </p:txBody>
      </p:sp>
      <p:sp>
        <p:nvSpPr>
          <p:cNvPr id="7" name="">
            <a:extLst xmlns:a="http://schemas.openxmlformats.org/drawingml/2006/main">
              <a:ext uri="{FF2B5EF4-FFF2-40B4-BE49-F238E27FC236}">
                <a16:creationId xmlns:a16="http://schemas.microsoft.com/office/drawing/2014/main" id="{353B1759-41BF-4EDA-8FB5-2DE5E5A3A876}"/>
              </a:ext>
            </a:extLst>
          </p:cNvPr>
          <p:cNvSpPr>
            <a:spLocks xmlns:a="http://schemas.openxmlformats.org/drawingml/2006/main" noGrp="1"/>
          </p:cNvSpPr>
          <p:nvPr/>
        </p:nvSpPr>
        <p:spPr>
          <a:xfrm xmlns:a="http://schemas.openxmlformats.org/drawingml/2006/main">
            <a:off x="4238625" y="14763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27 tests passed</a:t>
            </a:r>
          </a:p>
        </p:txBody>
      </p:sp>
      <p:sp>
        <p:nvSpPr>
          <p:cNvPr id="8" name="">
            <a:extLst xmlns:a="http://schemas.openxmlformats.org/drawingml/2006/main">
              <a:ext uri="{FF2B5EF4-FFF2-40B4-BE49-F238E27FC236}">
                <a16:creationId xmlns:a16="http://schemas.microsoft.com/office/drawing/2014/main" id="{6CE807C3-85F3-42A3-A214-A0A50B554451}"/>
              </a:ext>
            </a:extLst>
          </p:cNvPr>
          <p:cNvSpPr>
            <a:spLocks xmlns:a="http://schemas.openxmlformats.org/drawingml/2006/main" noGrp="1"/>
          </p:cNvSpPr>
          <p:nvPr/>
        </p:nvSpPr>
        <p:spPr>
          <a:xfrm xmlns:a="http://schemas.openxmlformats.org/drawingml/2006/main">
            <a:off x="723900" y="23431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7C75"/>
                </a:solidFill>
                <a:latin typeface="Arial"/>
                <a:ea typeface="Arial"/>
                <a:cs typeface="Arial"/>
              </a:defRPr>
            </a:pPr>
            <a:r>
              <a:rPr sz="2100" b="1">
                <a:solidFill>
                  <a:srgbClr val="0D7C75"/>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FF7A51A6-5B4B-4229-8F27-695E038F2788}"/>
              </a:ext>
            </a:extLst>
          </p:cNvPr>
          <p:cNvSpPr>
            <a:spLocks xmlns:a="http://schemas.openxmlformats.org/drawingml/2006/main" noGrp="1"/>
          </p:cNvSpPr>
          <p:nvPr/>
        </p:nvSpPr>
        <p:spPr>
          <a:xfrm xmlns:a="http://schemas.openxmlformats.org/drawingml/2006/main">
            <a:off x="1381125" y="234315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53F"/>
                </a:solidFill>
                <a:latin typeface="Arial"/>
                <a:ea typeface="Arial"/>
                <a:cs typeface="Arial"/>
              </a:defRPr>
            </a:pPr>
            <a:r>
              <a:rPr sz="1650" b="1">
                <a:solidFill>
                  <a:srgbClr val="10253F"/>
                </a:solidFill>
                <a:latin typeface="Arial"/>
                <a:ea typeface="Arial"/>
                <a:cs typeface="Arial"/>
              </a:rPr>
              <a:t>Angular 21</a:t>
            </a:r>
          </a:p>
        </p:txBody>
      </p:sp>
      <p:sp>
        <p:nvSpPr>
          <p:cNvPr id="10" name="">
            <a:extLst xmlns:a="http://schemas.openxmlformats.org/drawingml/2006/main">
              <a:ext uri="{FF2B5EF4-FFF2-40B4-BE49-F238E27FC236}">
                <a16:creationId xmlns:a16="http://schemas.microsoft.com/office/drawing/2014/main" id="{C64AF992-1081-49F0-93FD-D9C301675D70}"/>
              </a:ext>
            </a:extLst>
          </p:cNvPr>
          <p:cNvSpPr>
            <a:spLocks xmlns:a="http://schemas.openxmlformats.org/drawingml/2006/main" noGrp="1"/>
          </p:cNvSpPr>
          <p:nvPr/>
        </p:nvSpPr>
        <p:spPr>
          <a:xfrm xmlns:a="http://schemas.openxmlformats.org/drawingml/2006/main">
            <a:off x="4238625" y="2343150"/>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production build passed</a:t>
            </a:r>
          </a:p>
        </p:txBody>
      </p:sp>
      <p:sp>
        <p:nvSpPr>
          <p:cNvPr id="11" name="">
            <a:extLst xmlns:a="http://schemas.openxmlformats.org/drawingml/2006/main">
              <a:ext uri="{FF2B5EF4-FFF2-40B4-BE49-F238E27FC236}">
                <a16:creationId xmlns:a16="http://schemas.microsoft.com/office/drawing/2014/main" id="{879A1C0F-2466-4994-BF51-1A2F096A6AC6}"/>
              </a:ext>
            </a:extLst>
          </p:cNvPr>
          <p:cNvSpPr>
            <a:spLocks xmlns:a="http://schemas.openxmlformats.org/drawingml/2006/main" noGrp="1"/>
          </p:cNvSpPr>
          <p:nvPr/>
        </p:nvSpPr>
        <p:spPr>
          <a:xfrm xmlns:a="http://schemas.openxmlformats.org/drawingml/2006/main">
            <a:off x="723900" y="320992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7C75"/>
                </a:solidFill>
                <a:latin typeface="Arial"/>
                <a:ea typeface="Arial"/>
                <a:cs typeface="Arial"/>
              </a:defRPr>
            </a:pPr>
            <a:r>
              <a:rPr sz="2100" b="1">
                <a:solidFill>
                  <a:srgbClr val="0D7C75"/>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A0236A48-70DA-48EA-9E42-863ECF6BEC87}"/>
              </a:ext>
            </a:extLst>
          </p:cNvPr>
          <p:cNvSpPr>
            <a:spLocks xmlns:a="http://schemas.openxmlformats.org/drawingml/2006/main" noGrp="1"/>
          </p:cNvSpPr>
          <p:nvPr/>
        </p:nvSpPr>
        <p:spPr>
          <a:xfrm xmlns:a="http://schemas.openxmlformats.org/drawingml/2006/main">
            <a:off x="1381125" y="320992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53F"/>
                </a:solidFill>
                <a:latin typeface="Arial"/>
                <a:ea typeface="Arial"/>
                <a:cs typeface="Arial"/>
              </a:defRPr>
            </a:pPr>
            <a:r>
              <a:rPr sz="1650" b="1">
                <a:solidFill>
                  <a:srgbClr val="10253F"/>
                </a:solidFill>
                <a:latin typeface="Arial"/>
                <a:ea typeface="Arial"/>
                <a:cs typeface="Arial"/>
              </a:rPr>
              <a:t>Docker</a:t>
            </a:r>
          </a:p>
        </p:txBody>
      </p:sp>
      <p:sp>
        <p:nvSpPr>
          <p:cNvPr id="13" name="">
            <a:extLst xmlns:a="http://schemas.openxmlformats.org/drawingml/2006/main">
              <a:ext uri="{FF2B5EF4-FFF2-40B4-BE49-F238E27FC236}">
                <a16:creationId xmlns:a16="http://schemas.microsoft.com/office/drawing/2014/main" id="{86675039-8196-41ED-91EB-6EBC07F65C2F}"/>
              </a:ext>
            </a:extLst>
          </p:cNvPr>
          <p:cNvSpPr>
            <a:spLocks xmlns:a="http://schemas.openxmlformats.org/drawingml/2006/main" noGrp="1"/>
          </p:cNvSpPr>
          <p:nvPr/>
        </p:nvSpPr>
        <p:spPr>
          <a:xfrm xmlns:a="http://schemas.openxmlformats.org/drawingml/2006/main">
            <a:off x="4238625" y="32099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8-service stack healthy</a:t>
            </a:r>
          </a:p>
        </p:txBody>
      </p:sp>
      <p:sp>
        <p:nvSpPr>
          <p:cNvPr id="14" name="">
            <a:extLst xmlns:a="http://schemas.openxmlformats.org/drawingml/2006/main">
              <a:ext uri="{FF2B5EF4-FFF2-40B4-BE49-F238E27FC236}">
                <a16:creationId xmlns:a16="http://schemas.microsoft.com/office/drawing/2014/main" id="{2CFE3EB3-0CB6-4794-96F2-B6ED7FD11254}"/>
              </a:ext>
            </a:extLst>
          </p:cNvPr>
          <p:cNvSpPr>
            <a:spLocks xmlns:a="http://schemas.openxmlformats.org/drawingml/2006/main" noGrp="1"/>
          </p:cNvSpPr>
          <p:nvPr/>
        </p:nvSpPr>
        <p:spPr>
          <a:xfrm xmlns:a="http://schemas.openxmlformats.org/drawingml/2006/main">
            <a:off x="723900" y="407670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7C75"/>
                </a:solidFill>
                <a:latin typeface="Arial"/>
                <a:ea typeface="Arial"/>
                <a:cs typeface="Arial"/>
              </a:defRPr>
            </a:pPr>
            <a:r>
              <a:rPr sz="2100" b="1">
                <a:solidFill>
                  <a:srgbClr val="0D7C75"/>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B2E4063-8633-4557-977C-43DABD9A43E4}"/>
              </a:ext>
            </a:extLst>
          </p:cNvPr>
          <p:cNvSpPr>
            <a:spLocks xmlns:a="http://schemas.openxmlformats.org/drawingml/2006/main" noGrp="1"/>
          </p:cNvSpPr>
          <p:nvPr/>
        </p:nvSpPr>
        <p:spPr>
          <a:xfrm xmlns:a="http://schemas.openxmlformats.org/drawingml/2006/main">
            <a:off x="1381125" y="40767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53F"/>
                </a:solidFill>
                <a:latin typeface="Arial"/>
                <a:ea typeface="Arial"/>
                <a:cs typeface="Arial"/>
              </a:defRPr>
            </a:pPr>
            <a:r>
              <a:rPr sz="1650" b="1">
                <a:solidFill>
                  <a:srgbClr val="10253F"/>
                </a:solidFill>
                <a:latin typeface="Arial"/>
                <a:ea typeface="Arial"/>
                <a:cs typeface="Arial"/>
              </a:rPr>
              <a:t>Kafka smoke test</a:t>
            </a:r>
          </a:p>
        </p:txBody>
      </p:sp>
      <p:sp>
        <p:nvSpPr>
          <p:cNvPr id="16" name="">
            <a:extLst xmlns:a="http://schemas.openxmlformats.org/drawingml/2006/main">
              <a:ext uri="{FF2B5EF4-FFF2-40B4-BE49-F238E27FC236}">
                <a16:creationId xmlns:a16="http://schemas.microsoft.com/office/drawing/2014/main" id="{2627B610-C6A8-4F8C-86C1-2C99FB62C679}"/>
              </a:ext>
            </a:extLst>
          </p:cNvPr>
          <p:cNvSpPr>
            <a:spLocks xmlns:a="http://schemas.openxmlformats.org/drawingml/2006/main" noGrp="1"/>
          </p:cNvSpPr>
          <p:nvPr/>
        </p:nvSpPr>
        <p:spPr>
          <a:xfrm xmlns:a="http://schemas.openxmlformats.org/drawingml/2006/main">
            <a:off x="4238625" y="4076700"/>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event, email and audit row verified</a:t>
            </a:r>
          </a:p>
        </p:txBody>
      </p:sp>
      <p:sp>
        <p:nvSpPr>
          <p:cNvPr id="17" name="">
            <a:extLst xmlns:a="http://schemas.openxmlformats.org/drawingml/2006/main">
              <a:ext uri="{FF2B5EF4-FFF2-40B4-BE49-F238E27FC236}">
                <a16:creationId xmlns:a16="http://schemas.microsoft.com/office/drawing/2014/main" id="{3407388E-37E9-4AFB-96DC-F56091B95EE8}"/>
              </a:ext>
            </a:extLst>
          </p:cNvPr>
          <p:cNvSpPr>
            <a:spLocks xmlns:a="http://schemas.openxmlformats.org/drawingml/2006/main" noGrp="1"/>
          </p:cNvSpPr>
          <p:nvPr/>
        </p:nvSpPr>
        <p:spPr>
          <a:xfrm xmlns:a="http://schemas.openxmlformats.org/drawingml/2006/main">
            <a:off x="723900" y="49434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D7C75"/>
                </a:solidFill>
                <a:latin typeface="Arial"/>
                <a:ea typeface="Arial"/>
                <a:cs typeface="Arial"/>
              </a:defRPr>
            </a:pPr>
            <a:r>
              <a:rPr sz="2100" b="1">
                <a:solidFill>
                  <a:srgbClr val="0D7C75"/>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EDEBBC26-BB8D-47F4-AAE9-DECC83150EA3}"/>
              </a:ext>
            </a:extLst>
          </p:cNvPr>
          <p:cNvSpPr>
            <a:spLocks xmlns:a="http://schemas.openxmlformats.org/drawingml/2006/main" noGrp="1"/>
          </p:cNvSpPr>
          <p:nvPr/>
        </p:nvSpPr>
        <p:spPr>
          <a:xfrm xmlns:a="http://schemas.openxmlformats.org/drawingml/2006/main">
            <a:off x="1381125" y="494347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53F"/>
                </a:solidFill>
                <a:latin typeface="Arial"/>
                <a:ea typeface="Arial"/>
                <a:cs typeface="Arial"/>
              </a:defRPr>
            </a:pPr>
            <a:r>
              <a:rPr sz="1650" b="1">
                <a:solidFill>
                  <a:srgbClr val="10253F"/>
                </a:solidFill>
                <a:latin typeface="Arial"/>
                <a:ea typeface="Arial"/>
                <a:cs typeface="Arial"/>
              </a:rPr>
              <a:t>Production audit</a:t>
            </a:r>
          </a:p>
        </p:txBody>
      </p:sp>
      <p:sp>
        <p:nvSpPr>
          <p:cNvPr id="19" name="">
            <a:extLst xmlns:a="http://schemas.openxmlformats.org/drawingml/2006/main">
              <a:ext uri="{FF2B5EF4-FFF2-40B4-BE49-F238E27FC236}">
                <a16:creationId xmlns:a16="http://schemas.microsoft.com/office/drawing/2014/main" id="{ADD3DE87-31E6-4431-A672-9286C8313F87}"/>
              </a:ext>
            </a:extLst>
          </p:cNvPr>
          <p:cNvSpPr>
            <a:spLocks xmlns:a="http://schemas.openxmlformats.org/drawingml/2006/main" noGrp="1"/>
          </p:cNvSpPr>
          <p:nvPr/>
        </p:nvSpPr>
        <p:spPr>
          <a:xfrm xmlns:a="http://schemas.openxmlformats.org/drawingml/2006/main">
            <a:off x="4238625" y="49434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zero npm findings</a:t>
            </a:r>
          </a:p>
        </p:txBody>
      </p:sp>
    </p:spTree>
    <p:extLst>
      <p:ext uri="{BB962C8B-B14F-4D97-AF65-F5344CB8AC3E}">
        <p14:creationId xmlns:p14="http://schemas.microsoft.com/office/powerpoint/2010/main" val="3288107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7CB5054-155F-4450-BABD-15FEB03CC8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6BD8C7-556F-468B-8773-CCE59402EE8D}"/>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D7C75"/>
                </a:solidFill>
                <a:latin typeface="Arial"/>
                <a:ea typeface="Arial"/>
                <a:cs typeface="Arial"/>
              </a:defRPr>
            </a:pPr>
            <a:r>
              <a:rPr sz="1050" b="1">
                <a:solidFill>
                  <a:srgbClr val="0D7C75"/>
                </a:solidFill>
                <a:latin typeface="Arial"/>
                <a:ea typeface="Arial"/>
                <a:cs typeface="Arial"/>
              </a:rPr>
              <a:t>TEAM 1</a:t>
            </a:r>
          </a:p>
        </p:txBody>
      </p:sp>
      <p:sp>
        <p:nvSpPr>
          <p:cNvPr id="3" name="">
            <a:extLst xmlns:a="http://schemas.openxmlformats.org/drawingml/2006/main">
              <a:ext uri="{FF2B5EF4-FFF2-40B4-BE49-F238E27FC236}">
                <a16:creationId xmlns:a16="http://schemas.microsoft.com/office/drawing/2014/main" id="{724B55F2-E060-4FC8-B8A1-B9359CEC0505}"/>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53F"/>
                </a:solidFill>
                <a:latin typeface="Arial"/>
                <a:ea typeface="Arial"/>
                <a:cs typeface="Arial"/>
              </a:defRPr>
            </a:pPr>
            <a:r>
              <a:rPr sz="2850" b="1">
                <a:solidFill>
                  <a:srgbClr val="10253F"/>
                </a:solidFill>
                <a:latin typeface="Arial"/>
                <a:ea typeface="Arial"/>
                <a:cs typeface="Arial"/>
              </a:rPr>
              <a:t>Cross-team integration status</a:t>
            </a:r>
          </a:p>
        </p:txBody>
      </p:sp>
      <p:sp>
        <p:nvSpPr>
          <p:cNvPr id="4" name="">
            <a:extLst xmlns:a="http://schemas.openxmlformats.org/drawingml/2006/main">
              <a:ext uri="{FF2B5EF4-FFF2-40B4-BE49-F238E27FC236}">
                <a16:creationId xmlns:a16="http://schemas.microsoft.com/office/drawing/2014/main" id="{ADBAF330-9E67-422D-9E73-6042F355CD88}"/>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D7C75"/>
                </a:solidFill>
                <a:latin typeface="Arial"/>
                <a:ea typeface="Arial"/>
                <a:cs typeface="Arial"/>
              </a:defRPr>
            </a:pPr>
            <a:r>
              <a:rPr sz="1125" b="1">
                <a:solidFill>
                  <a:srgbClr val="0D7C7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D637758D-51B7-4F6A-B98B-C183E6B50C52}"/>
              </a:ext>
            </a:extLst>
          </p:cNvPr>
          <p:cNvSpPr>
            <a:spLocks xmlns:a="http://schemas.openxmlformats.org/drawingml/2006/main" noGrp="1"/>
          </p:cNvSpPr>
          <p:nvPr/>
        </p:nvSpPr>
        <p:spPr>
          <a:xfrm xmlns:a="http://schemas.openxmlformats.org/drawingml/2006/main">
            <a:off x="666750" y="1524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D7C75"/>
                </a:solidFill>
                <a:latin typeface="Arial"/>
                <a:ea typeface="Arial"/>
                <a:cs typeface="Arial"/>
              </a:defRPr>
            </a:pPr>
            <a:r>
              <a:rPr sz="1500" b="1">
                <a:solidFill>
                  <a:srgbClr val="0D7C75"/>
                </a:solidFill>
                <a:latin typeface="Arial"/>
                <a:ea typeface="Arial"/>
                <a:cs typeface="Arial"/>
              </a:rPr>
              <a:t>Available</a:t>
            </a:r>
          </a:p>
        </p:txBody>
      </p:sp>
      <p:sp>
        <p:nvSpPr>
          <p:cNvPr id="6" name="">
            <a:extLst xmlns:a="http://schemas.openxmlformats.org/drawingml/2006/main">
              <a:ext uri="{FF2B5EF4-FFF2-40B4-BE49-F238E27FC236}">
                <a16:creationId xmlns:a16="http://schemas.microsoft.com/office/drawing/2014/main" id="{88A826FA-E5CB-4A59-A45E-079B55D081C4}"/>
              </a:ext>
            </a:extLst>
          </p:cNvPr>
          <p:cNvSpPr>
            <a:spLocks xmlns:a="http://schemas.openxmlformats.org/drawingml/2006/main" noGrp="1"/>
          </p:cNvSpPr>
          <p:nvPr/>
        </p:nvSpPr>
        <p:spPr>
          <a:xfrm xmlns:a="http://schemas.openxmlformats.org/drawingml/2006/main">
            <a:off x="742950" y="21145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978482-9BE2-4D4A-9A65-76A0D7E09466}"/>
              </a:ext>
            </a:extLst>
          </p:cNvPr>
          <p:cNvSpPr>
            <a:spLocks xmlns:a="http://schemas.openxmlformats.org/drawingml/2006/main" noGrp="1"/>
          </p:cNvSpPr>
          <p:nvPr/>
        </p:nvSpPr>
        <p:spPr>
          <a:xfrm xmlns:a="http://schemas.openxmlformats.org/drawingml/2006/main">
            <a:off x="1009650" y="2000250"/>
            <a:ext cx="4019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Shared ER diagram</a:t>
            </a:r>
          </a:p>
        </p:txBody>
      </p:sp>
      <p:sp>
        <p:nvSpPr>
          <p:cNvPr id="8" name="">
            <a:extLst xmlns:a="http://schemas.openxmlformats.org/drawingml/2006/main">
              <a:ext uri="{FF2B5EF4-FFF2-40B4-BE49-F238E27FC236}">
                <a16:creationId xmlns:a16="http://schemas.microsoft.com/office/drawing/2014/main" id="{2B9D1015-0626-4DB4-B2D5-EDBDD6CD8396}"/>
              </a:ext>
            </a:extLst>
          </p:cNvPr>
          <p:cNvSpPr>
            <a:spLocks xmlns:a="http://schemas.openxmlformats.org/drawingml/2006/main" noGrp="1"/>
          </p:cNvSpPr>
          <p:nvPr/>
        </p:nvSpPr>
        <p:spPr>
          <a:xfrm xmlns:a="http://schemas.openxmlformats.org/drawingml/2006/main">
            <a:off x="742950" y="278130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5A3A234-4C1C-4C01-986F-0905AD3B597F}"/>
              </a:ext>
            </a:extLst>
          </p:cNvPr>
          <p:cNvSpPr>
            <a:spLocks xmlns:a="http://schemas.openxmlformats.org/drawingml/2006/main" noGrp="1"/>
          </p:cNvSpPr>
          <p:nvPr/>
        </p:nvSpPr>
        <p:spPr>
          <a:xfrm xmlns:a="http://schemas.openxmlformats.org/drawingml/2006/main">
            <a:off x="1009650" y="2667000"/>
            <a:ext cx="4019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Swagger_API.yaml</a:t>
            </a:r>
          </a:p>
        </p:txBody>
      </p:sp>
      <p:sp>
        <p:nvSpPr>
          <p:cNvPr id="10" name="">
            <a:extLst xmlns:a="http://schemas.openxmlformats.org/drawingml/2006/main">
              <a:ext uri="{FF2B5EF4-FFF2-40B4-BE49-F238E27FC236}">
                <a16:creationId xmlns:a16="http://schemas.microsoft.com/office/drawing/2014/main" id="{35B06B31-768B-4507-870A-D7B97F08124E}"/>
              </a:ext>
            </a:extLst>
          </p:cNvPr>
          <p:cNvSpPr>
            <a:spLocks xmlns:a="http://schemas.openxmlformats.org/drawingml/2006/main" noGrp="1"/>
          </p:cNvSpPr>
          <p:nvPr/>
        </p:nvSpPr>
        <p:spPr>
          <a:xfrm xmlns:a="http://schemas.openxmlformats.org/drawingml/2006/main">
            <a:off x="742950" y="34480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D2157F0-F0F2-42F9-B87B-39DB73C34503}"/>
              </a:ext>
            </a:extLst>
          </p:cNvPr>
          <p:cNvSpPr>
            <a:spLocks xmlns:a="http://schemas.openxmlformats.org/drawingml/2006/main" noGrp="1"/>
          </p:cNvSpPr>
          <p:nvPr/>
        </p:nvSpPr>
        <p:spPr>
          <a:xfrm xmlns:a="http://schemas.openxmlformats.org/drawingml/2006/main">
            <a:off x="1009650" y="3333750"/>
            <a:ext cx="4019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Group work-distribution workbook</a:t>
            </a:r>
          </a:p>
        </p:txBody>
      </p:sp>
      <p:sp>
        <p:nvSpPr>
          <p:cNvPr id="12" name="">
            <a:extLst xmlns:a="http://schemas.openxmlformats.org/drawingml/2006/main">
              <a:ext uri="{FF2B5EF4-FFF2-40B4-BE49-F238E27FC236}">
                <a16:creationId xmlns:a16="http://schemas.microsoft.com/office/drawing/2014/main" id="{101023F6-E0E2-4F78-902B-8CC675649DDC}"/>
              </a:ext>
            </a:extLst>
          </p:cNvPr>
          <p:cNvSpPr>
            <a:spLocks xmlns:a="http://schemas.openxmlformats.org/drawingml/2006/main" noGrp="1"/>
          </p:cNvSpPr>
          <p:nvPr/>
        </p:nvSpPr>
        <p:spPr>
          <a:xfrm xmlns:a="http://schemas.openxmlformats.org/drawingml/2006/main">
            <a:off x="6334125" y="15240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B84040"/>
                </a:solidFill>
                <a:latin typeface="Arial"/>
                <a:ea typeface="Arial"/>
                <a:cs typeface="Arial"/>
              </a:defRPr>
            </a:pPr>
            <a:r>
              <a:rPr sz="1500" b="1">
                <a:solidFill>
                  <a:srgbClr val="B84040"/>
                </a:solidFill>
                <a:latin typeface="Arial"/>
                <a:ea typeface="Arial"/>
                <a:cs typeface="Arial"/>
              </a:rPr>
              <a:t>Still required</a:t>
            </a:r>
          </a:p>
        </p:txBody>
      </p:sp>
      <p:sp>
        <p:nvSpPr>
          <p:cNvPr id="13" name="">
            <a:extLst xmlns:a="http://schemas.openxmlformats.org/drawingml/2006/main">
              <a:ext uri="{FF2B5EF4-FFF2-40B4-BE49-F238E27FC236}">
                <a16:creationId xmlns:a16="http://schemas.microsoft.com/office/drawing/2014/main" id="{C2363492-25F3-4E5D-98C0-2314DF654D19}"/>
              </a:ext>
            </a:extLst>
          </p:cNvPr>
          <p:cNvSpPr>
            <a:spLocks xmlns:a="http://schemas.openxmlformats.org/drawingml/2006/main" noGrp="1"/>
          </p:cNvSpPr>
          <p:nvPr/>
        </p:nvSpPr>
        <p:spPr>
          <a:xfrm xmlns:a="http://schemas.openxmlformats.org/drawingml/2006/main">
            <a:off x="6410325" y="21145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E5CE886-7F7C-42BB-97DD-EE8104881C20}"/>
              </a:ext>
            </a:extLst>
          </p:cNvPr>
          <p:cNvSpPr>
            <a:spLocks xmlns:a="http://schemas.openxmlformats.org/drawingml/2006/main" noGrp="1"/>
          </p:cNvSpPr>
          <p:nvPr/>
        </p:nvSpPr>
        <p:spPr>
          <a:xfrm xmlns:a="http://schemas.openxmlformats.org/drawingml/2006/main">
            <a:off x="6677025" y="2000250"/>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Auth issuer and claim contract</a:t>
            </a:r>
          </a:p>
        </p:txBody>
      </p:sp>
      <p:sp>
        <p:nvSpPr>
          <p:cNvPr id="15" name="">
            <a:extLst xmlns:a="http://schemas.openxmlformats.org/drawingml/2006/main">
              <a:ext uri="{FF2B5EF4-FFF2-40B4-BE49-F238E27FC236}">
                <a16:creationId xmlns:a16="http://schemas.microsoft.com/office/drawing/2014/main" id="{334A5A90-BE96-4733-89D8-B89CAB5DCDDB}"/>
              </a:ext>
            </a:extLst>
          </p:cNvPr>
          <p:cNvSpPr>
            <a:spLocks xmlns:a="http://schemas.openxmlformats.org/drawingml/2006/main" noGrp="1"/>
          </p:cNvSpPr>
          <p:nvPr/>
        </p:nvSpPr>
        <p:spPr>
          <a:xfrm xmlns:a="http://schemas.openxmlformats.org/drawingml/2006/main">
            <a:off x="6410325" y="278130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EE1BC56-CA83-4424-B5C6-29AED0F3E6BB}"/>
              </a:ext>
            </a:extLst>
          </p:cNvPr>
          <p:cNvSpPr>
            <a:spLocks xmlns:a="http://schemas.openxmlformats.org/drawingml/2006/main" noGrp="1"/>
          </p:cNvSpPr>
          <p:nvPr/>
        </p:nvSpPr>
        <p:spPr>
          <a:xfrm xmlns:a="http://schemas.openxmlformats.org/drawingml/2006/main">
            <a:off x="6677025" y="2667000"/>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Customer and product payload examples</a:t>
            </a:r>
          </a:p>
        </p:txBody>
      </p:sp>
      <p:sp>
        <p:nvSpPr>
          <p:cNvPr id="17" name="">
            <a:extLst xmlns:a="http://schemas.openxmlformats.org/drawingml/2006/main">
              <a:ext uri="{FF2B5EF4-FFF2-40B4-BE49-F238E27FC236}">
                <a16:creationId xmlns:a16="http://schemas.microsoft.com/office/drawing/2014/main" id="{8432A09A-6657-442C-B7DC-DFAFDF1F7F95}"/>
              </a:ext>
            </a:extLst>
          </p:cNvPr>
          <p:cNvSpPr>
            <a:spLocks xmlns:a="http://schemas.openxmlformats.org/drawingml/2006/main" noGrp="1"/>
          </p:cNvSpPr>
          <p:nvPr/>
        </p:nvSpPr>
        <p:spPr>
          <a:xfrm xmlns:a="http://schemas.openxmlformats.org/drawingml/2006/main">
            <a:off x="6410325" y="3448050"/>
            <a:ext cx="95250" cy="95250"/>
          </a:xfrm>
          <a:prstGeom xmlns:a="http://schemas.openxmlformats.org/drawingml/2006/main" prst="roundRect">
            <a:avLst>
              <a:gd name="adj" fmla="val 50000"/>
            </a:avLst>
          </a:prstGeom>
          <a:solidFill xmlns:a="http://schemas.openxmlformats.org/drawingml/2006/main">
            <a:srgbClr val="0D7C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593082-1E06-4709-B339-50B73B8F73B3}"/>
              </a:ext>
            </a:extLst>
          </p:cNvPr>
          <p:cNvSpPr>
            <a:spLocks xmlns:a="http://schemas.openxmlformats.org/drawingml/2006/main" noGrp="1"/>
          </p:cNvSpPr>
          <p:nvPr/>
        </p:nvSpPr>
        <p:spPr>
          <a:xfrm xmlns:a="http://schemas.openxmlformats.org/drawingml/2006/main">
            <a:off x="6677025" y="3333750"/>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Calculation calcId semantics</a:t>
            </a:r>
          </a:p>
        </p:txBody>
      </p:sp>
      <p:sp>
        <p:nvSpPr>
          <p:cNvPr id="19" name="">
            <a:extLst xmlns:a="http://schemas.openxmlformats.org/drawingml/2006/main">
              <a:ext uri="{FF2B5EF4-FFF2-40B4-BE49-F238E27FC236}">
                <a16:creationId xmlns:a16="http://schemas.microsoft.com/office/drawing/2014/main" id="{61D74C41-9779-47A7-BB93-73FB4CC3603C}"/>
              </a:ext>
            </a:extLst>
          </p:cNvPr>
          <p:cNvSpPr>
            <a:spLocks xmlns:a="http://schemas.openxmlformats.org/drawingml/2006/main" noGrp="1"/>
          </p:cNvSpPr>
          <p:nvPr/>
        </p:nvSpPr>
        <p:spPr>
          <a:xfrm xmlns:a="http://schemas.openxmlformats.org/drawingml/2006/main">
            <a:off x="6410325" y="4114800"/>
            <a:ext cx="95250" cy="95250"/>
          </a:xfrm>
          <a:prstGeom xmlns:a="http://schemas.openxmlformats.org/drawingml/2006/main" prst="roundRect">
            <a:avLst>
              <a:gd name="adj" fmla="val 50000"/>
            </a:avLst>
          </a:prstGeom>
          <a:solidFill xmlns:a="http://schemas.openxmlformats.org/drawingml/2006/main">
            <a:srgbClr val="D9A62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217F2F-3F70-4C09-A537-920C27BA5E4D}"/>
              </a:ext>
            </a:extLst>
          </p:cNvPr>
          <p:cNvSpPr>
            <a:spLocks xmlns:a="http://schemas.openxmlformats.org/drawingml/2006/main" noGrp="1"/>
          </p:cNvSpPr>
          <p:nvPr/>
        </p:nvSpPr>
        <p:spPr>
          <a:xfrm xmlns:a="http://schemas.openxmlformats.org/drawingml/2006/main">
            <a:off x="6677025" y="4000500"/>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263746"/>
                </a:solidFill>
                <a:latin typeface="Arial"/>
                <a:ea typeface="Arial"/>
                <a:cs typeface="Arial"/>
              </a:defRPr>
            </a:pPr>
            <a:r>
              <a:rPr sz="1650" b="0">
                <a:solidFill>
                  <a:srgbClr val="263746"/>
                </a:solidFill>
                <a:latin typeface="Arial"/>
                <a:ea typeface="Arial"/>
                <a:cs typeface="Arial"/>
              </a:rPr>
              <a:t>Transaction posting and idempotency rules</a:t>
            </a:r>
          </a:p>
        </p:txBody>
      </p:sp>
      <p:sp>
        <p:nvSpPr>
          <p:cNvPr id="21" name="">
            <a:extLst xmlns:a="http://schemas.openxmlformats.org/drawingml/2006/main">
              <a:ext uri="{FF2B5EF4-FFF2-40B4-BE49-F238E27FC236}">
                <a16:creationId xmlns:a16="http://schemas.microsoft.com/office/drawing/2014/main" id="{B4C3281F-B684-4669-A696-F7C683E8C2CD}"/>
              </a:ext>
            </a:extLst>
          </p:cNvPr>
          <p:cNvSpPr>
            <a:spLocks xmlns:a="http://schemas.openxmlformats.org/drawingml/2006/main" noGrp="1"/>
          </p:cNvSpPr>
          <p:nvPr/>
        </p:nvSpPr>
        <p:spPr>
          <a:xfrm xmlns:a="http://schemas.openxmlformats.org/drawingml/2006/main">
            <a:off x="5810250" y="1504950"/>
            <a:ext cx="19050" cy="3714750"/>
          </a:xfrm>
          <a:prstGeom xmlns:a="http://schemas.openxmlformats.org/drawingml/2006/main" prst="rect">
            <a:avLst/>
          </a:prstGeom>
          <a:solidFill xmlns:a="http://schemas.openxmlformats.org/drawingml/2006/main">
            <a:srgbClr val="DDF2E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C601D15-8176-4F5C-96E8-B972E3E583E6}"/>
              </a:ext>
            </a:extLst>
          </p:cNvPr>
          <p:cNvSpPr>
            <a:spLocks xmlns:a="http://schemas.openxmlformats.org/drawingml/2006/main" noGrp="1"/>
          </p:cNvSpPr>
          <p:nvPr/>
        </p:nvSpPr>
        <p:spPr>
          <a:xfrm xmlns:a="http://schemas.openxmlformats.org/drawingml/2006/main">
            <a:off x="714375" y="552450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91"/>
          </a:bodyPr>
          <a:lstStyle xmlns:a="http://schemas.openxmlformats.org/drawingml/2006/main"/>
          <a:p xmlns:a="http://schemas.openxmlformats.org/drawingml/2006/main">
            <a:pPr algn="l">
              <a:defRPr sz="1650" b="1">
                <a:solidFill>
                  <a:srgbClr val="10253F"/>
                </a:solidFill>
                <a:latin typeface="Arial"/>
                <a:ea typeface="Arial"/>
                <a:cs typeface="Arial"/>
              </a:defRPr>
            </a:pPr>
            <a:r>
              <a:rPr sz="1650" b="1">
                <a:solidFill>
                  <a:srgbClr val="10253F"/>
                </a:solidFill>
                <a:latin typeface="Arial"/>
                <a:ea typeface="Arial"/>
                <a:cs typeface="Arial"/>
              </a:rPr>
              <a:t>The shared account request omits essential FD fields, so the repository documents the mismatch instead of guessing financial data.</a:t>
            </a:r>
          </a:p>
        </p:txBody>
      </p:sp>
    </p:spTree>
    <p:extLst>
      <p:ext uri="{BB962C8B-B14F-4D97-AF65-F5344CB8AC3E}">
        <p14:creationId xmlns:p14="http://schemas.microsoft.com/office/powerpoint/2010/main" val="2099025021"/>
      </p:ext>
    </p:extLst>
  </p:cSld>
</p:sld>
</file>

<file path=ppt/slides/slide10.xml><?xml version="1.0" encoding="utf-8"?>
<p:sld xmlns:p="http://schemas.openxmlformats.org/presentationml/2006/main">
  <p:cSld>
    <p:bg>
      <p:bgPr>
        <a:solidFill xmlns:a="http://schemas.openxmlformats.org/drawingml/2006/main">
          <a:srgbClr val="10253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AD603C-85B5-4E6C-A906-C250BAE32139}"/>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D9A62E"/>
                </a:solidFill>
                <a:latin typeface="Arial"/>
                <a:ea typeface="Arial"/>
                <a:cs typeface="Arial"/>
              </a:defRPr>
            </a:pPr>
            <a:r>
              <a:rPr sz="1050" b="1">
                <a:solidFill>
                  <a:srgbClr val="D9A62E"/>
                </a:solidFill>
                <a:latin typeface="Arial"/>
                <a:ea typeface="Arial"/>
                <a:cs typeface="Arial"/>
              </a:rPr>
              <a:t>LOCAL DEPLOYMENT</a:t>
            </a:r>
          </a:p>
        </p:txBody>
      </p:sp>
      <p:sp>
        <p:nvSpPr>
          <p:cNvPr id="2" name="">
            <a:extLst xmlns:a="http://schemas.openxmlformats.org/drawingml/2006/main">
              <a:ext uri="{FF2B5EF4-FFF2-40B4-BE49-F238E27FC236}">
                <a16:creationId xmlns:a16="http://schemas.microsoft.com/office/drawing/2014/main" id="{13BBF15D-AE13-48E9-A6E1-AE22145BE85E}"/>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Professor setup</a:t>
            </a:r>
          </a:p>
        </p:txBody>
      </p:sp>
      <p:sp>
        <p:nvSpPr>
          <p:cNvPr id="3" name="">
            <a:extLst xmlns:a="http://schemas.openxmlformats.org/drawingml/2006/main">
              <a:ext uri="{FF2B5EF4-FFF2-40B4-BE49-F238E27FC236}">
                <a16:creationId xmlns:a16="http://schemas.microsoft.com/office/drawing/2014/main" id="{960F0C8C-664E-43E6-AD88-3D5017739DF5}"/>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DDF2EE"/>
                </a:solidFill>
                <a:latin typeface="Arial"/>
                <a:ea typeface="Arial"/>
                <a:cs typeface="Arial"/>
              </a:defRPr>
            </a:pPr>
            <a:r>
              <a:rPr sz="1125" b="1">
                <a:solidFill>
                  <a:srgbClr val="DDF2E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401D1C7-0F2D-446D-865D-06F9048C274C}"/>
              </a:ext>
            </a:extLst>
          </p:cNvPr>
          <p:cNvSpPr>
            <a:spLocks xmlns:a="http://schemas.openxmlformats.org/drawingml/2006/main" noGrp="1"/>
          </p:cNvSpPr>
          <p:nvPr/>
        </p:nvSpPr>
        <p:spPr>
          <a:xfrm xmlns:a="http://schemas.openxmlformats.org/drawingml/2006/main">
            <a:off x="666750" y="16002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D9A62E"/>
                </a:solidFill>
                <a:latin typeface="Arial"/>
                <a:ea typeface="Arial"/>
                <a:cs typeface="Arial"/>
              </a:defRPr>
            </a:pPr>
            <a:r>
              <a:rPr sz="3150" b="1">
                <a:solidFill>
                  <a:srgbClr val="D9A62E"/>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9C0F095F-9F73-4D83-A554-18F91E8795CE}"/>
              </a:ext>
            </a:extLst>
          </p:cNvPr>
          <p:cNvSpPr>
            <a:spLocks xmlns:a="http://schemas.openxmlformats.org/drawingml/2006/main" noGrp="1"/>
          </p:cNvSpPr>
          <p:nvPr/>
        </p:nvSpPr>
        <p:spPr>
          <a:xfrm xmlns:a="http://schemas.openxmlformats.org/drawingml/2006/main">
            <a:off x="1476375" y="16002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Clone the GitHub repository</a:t>
            </a:r>
          </a:p>
        </p:txBody>
      </p:sp>
      <p:sp>
        <p:nvSpPr>
          <p:cNvPr id="6" name="">
            <a:extLst xmlns:a="http://schemas.openxmlformats.org/drawingml/2006/main">
              <a:ext uri="{FF2B5EF4-FFF2-40B4-BE49-F238E27FC236}">
                <a16:creationId xmlns:a16="http://schemas.microsoft.com/office/drawing/2014/main" id="{49A329A8-D26F-4FD4-9272-497A4AB48225}"/>
              </a:ext>
            </a:extLst>
          </p:cNvPr>
          <p:cNvSpPr>
            <a:spLocks xmlns:a="http://schemas.openxmlformats.org/drawingml/2006/main" noGrp="1"/>
          </p:cNvSpPr>
          <p:nvPr/>
        </p:nvSpPr>
        <p:spPr>
          <a:xfrm xmlns:a="http://schemas.openxmlformats.org/drawingml/2006/main">
            <a:off x="666750" y="2628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D9A62E"/>
                </a:solidFill>
                <a:latin typeface="Arial"/>
                <a:ea typeface="Arial"/>
                <a:cs typeface="Arial"/>
              </a:defRPr>
            </a:pPr>
            <a:r>
              <a:rPr sz="3150" b="1">
                <a:solidFill>
                  <a:srgbClr val="D9A62E"/>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5A6EC6B-981C-4858-95D6-5509C1731C07}"/>
              </a:ext>
            </a:extLst>
          </p:cNvPr>
          <p:cNvSpPr>
            <a:spLocks xmlns:a="http://schemas.openxmlformats.org/drawingml/2006/main" noGrp="1"/>
          </p:cNvSpPr>
          <p:nvPr/>
        </p:nvSpPr>
        <p:spPr>
          <a:xfrm xmlns:a="http://schemas.openxmlformats.org/drawingml/2006/main">
            <a:off x="1476375" y="26289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Run  docker compose up --build -d</a:t>
            </a:r>
          </a:p>
        </p:txBody>
      </p:sp>
      <p:sp>
        <p:nvSpPr>
          <p:cNvPr id="8" name="">
            <a:extLst xmlns:a="http://schemas.openxmlformats.org/drawingml/2006/main">
              <a:ext uri="{FF2B5EF4-FFF2-40B4-BE49-F238E27FC236}">
                <a16:creationId xmlns:a16="http://schemas.microsoft.com/office/drawing/2014/main" id="{D47EAA79-63B6-4A67-9F39-391E0907602A}"/>
              </a:ext>
            </a:extLst>
          </p:cNvPr>
          <p:cNvSpPr>
            <a:spLocks xmlns:a="http://schemas.openxmlformats.org/drawingml/2006/main" noGrp="1"/>
          </p:cNvSpPr>
          <p:nvPr/>
        </p:nvSpPr>
        <p:spPr>
          <a:xfrm xmlns:a="http://schemas.openxmlformats.org/drawingml/2006/main">
            <a:off x="666750" y="36576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D9A62E"/>
                </a:solidFill>
                <a:latin typeface="Arial"/>
                <a:ea typeface="Arial"/>
                <a:cs typeface="Arial"/>
              </a:defRPr>
            </a:pPr>
            <a:r>
              <a:rPr sz="3150" b="1">
                <a:solidFill>
                  <a:srgbClr val="D9A62E"/>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0B846088-3C9C-4414-BC96-DF86170404C4}"/>
              </a:ext>
            </a:extLst>
          </p:cNvPr>
          <p:cNvSpPr>
            <a:spLocks xmlns:a="http://schemas.openxmlformats.org/drawingml/2006/main" noGrp="1"/>
          </p:cNvSpPr>
          <p:nvPr/>
        </p:nvSpPr>
        <p:spPr>
          <a:xfrm xmlns:a="http://schemas.openxmlformats.org/drawingml/2006/main">
            <a:off x="1476375" y="3657600"/>
            <a:ext cx="895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Open localhost:4200 and Mailpit on :8025</a:t>
            </a:r>
          </a:p>
        </p:txBody>
      </p:sp>
      <p:sp>
        <p:nvSpPr>
          <p:cNvPr id="10" name="">
            <a:extLst xmlns:a="http://schemas.openxmlformats.org/drawingml/2006/main">
              <a:ext uri="{FF2B5EF4-FFF2-40B4-BE49-F238E27FC236}">
                <a16:creationId xmlns:a16="http://schemas.microsoft.com/office/drawing/2014/main" id="{1E2F4229-A8B7-49F3-A906-FB2EAC002B72}"/>
              </a:ext>
            </a:extLst>
          </p:cNvPr>
          <p:cNvSpPr>
            <a:spLocks xmlns:a="http://schemas.openxmlformats.org/drawingml/2006/main" noGrp="1"/>
          </p:cNvSpPr>
          <p:nvPr/>
        </p:nvSpPr>
        <p:spPr>
          <a:xfrm xmlns:a="http://schemas.openxmlformats.org/drawingml/2006/main">
            <a:off x="666750" y="46863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D9A62E"/>
                </a:solidFill>
                <a:latin typeface="Arial"/>
                <a:ea typeface="Arial"/>
                <a:cs typeface="Arial"/>
              </a:defRPr>
            </a:pPr>
            <a:r>
              <a:rPr sz="3150" b="1">
                <a:solidFill>
                  <a:srgbClr val="D9A62E"/>
                </a:solidFill>
                <a:latin typeface="Arial"/>
                <a:ea typeface="Arial"/>
                <a:cs typeface="Arial"/>
              </a:rPr>
              <a:t>4</a:t>
            </a:r>
          </a:p>
        </p:txBody>
      </p:sp>
      <p:sp>
        <p:nvSpPr>
          <p:cNvPr id="11" name="">
            <a:extLst xmlns:a="http://schemas.openxmlformats.org/drawingml/2006/main">
              <a:ext uri="{FF2B5EF4-FFF2-40B4-BE49-F238E27FC236}">
                <a16:creationId xmlns:a16="http://schemas.microsoft.com/office/drawing/2014/main" id="{1C4DB892-24C2-41BB-9C22-F64CDC7EF99E}"/>
              </a:ext>
            </a:extLst>
          </p:cNvPr>
          <p:cNvSpPr>
            <a:spLocks xmlns:a="http://schemas.openxmlformats.org/drawingml/2006/main" noGrp="1"/>
          </p:cNvSpPr>
          <p:nvPr/>
        </p:nvSpPr>
        <p:spPr>
          <a:xfrm xmlns:a="http://schemas.openxmlformats.org/drawingml/2006/main">
            <a:off x="1476375" y="46863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Use the demo runbook for the nine-minute workflow</a:t>
            </a:r>
          </a:p>
        </p:txBody>
      </p:sp>
      <p:sp>
        <p:nvSpPr>
          <p:cNvPr id="12" name="">
            <a:extLst xmlns:a="http://schemas.openxmlformats.org/drawingml/2006/main">
              <a:ext uri="{FF2B5EF4-FFF2-40B4-BE49-F238E27FC236}">
                <a16:creationId xmlns:a16="http://schemas.microsoft.com/office/drawing/2014/main" id="{AAE55A53-34D8-470F-A87C-AB225CAE03F9}"/>
              </a:ext>
            </a:extLst>
          </p:cNvPr>
          <p:cNvSpPr>
            <a:spLocks xmlns:a="http://schemas.openxmlformats.org/drawingml/2006/main" noGrp="1"/>
          </p:cNvSpPr>
          <p:nvPr/>
        </p:nvSpPr>
        <p:spPr>
          <a:xfrm xmlns:a="http://schemas.openxmlformats.org/drawingml/2006/main">
            <a:off x="1476375" y="577215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DDF2EE"/>
                </a:solidFill>
                <a:latin typeface="Arial"/>
                <a:ea typeface="Arial"/>
                <a:cs typeface="Arial"/>
              </a:defRPr>
            </a:pPr>
            <a:r>
              <a:rPr sz="1500" b="0">
                <a:solidFill>
                  <a:srgbClr val="DDF2EE"/>
                </a:solidFill>
                <a:latin typeface="Arial"/>
                <a:ea typeface="Arial"/>
                <a:cs typeface="Arial"/>
              </a:rPr>
              <a:t>No cloud account or paid messaging service is needed for grading.</a:t>
            </a:r>
          </a:p>
        </p:txBody>
      </p:sp>
    </p:spTree>
    <p:extLst>
      <p:ext uri="{BB962C8B-B14F-4D97-AF65-F5344CB8AC3E}">
        <p14:creationId xmlns:p14="http://schemas.microsoft.com/office/powerpoint/2010/main" val="13027776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61B32E1-ADA0-4887-88C7-ED3B7D516F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4B0FAB-291D-4476-8CD8-3A3329AB27BC}"/>
              </a:ext>
            </a:extLst>
          </p:cNvPr>
          <p:cNvSpPr>
            <a:spLocks xmlns:a="http://schemas.openxmlformats.org/drawingml/2006/main" noGrp="1"/>
          </p:cNvSpPr>
          <p:nvPr/>
        </p:nvSpPr>
        <p:spPr>
          <a:xfrm xmlns:a="http://schemas.openxmlformats.org/drawingml/2006/main">
            <a:off x="533400" y="3048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D7C75"/>
                </a:solidFill>
                <a:latin typeface="Arial"/>
                <a:ea typeface="Arial"/>
                <a:cs typeface="Arial"/>
              </a:defRPr>
            </a:pPr>
            <a:r>
              <a:rPr sz="1050" b="1">
                <a:solidFill>
                  <a:srgbClr val="0D7C75"/>
                </a:solidFill>
                <a:latin typeface="Arial"/>
                <a:ea typeface="Arial"/>
                <a:cs typeface="Arial"/>
              </a:rPr>
              <a:t>FUTURE WORK</a:t>
            </a:r>
          </a:p>
        </p:txBody>
      </p:sp>
      <p:sp>
        <p:nvSpPr>
          <p:cNvPr id="3" name="">
            <a:extLst xmlns:a="http://schemas.openxmlformats.org/drawingml/2006/main">
              <a:ext uri="{FF2B5EF4-FFF2-40B4-BE49-F238E27FC236}">
                <a16:creationId xmlns:a16="http://schemas.microsoft.com/office/drawing/2014/main" id="{C4F4E2CA-0C0C-4992-B243-180D2D42A297}"/>
              </a:ext>
            </a:extLst>
          </p:cNvPr>
          <p:cNvSpPr>
            <a:spLocks xmlns:a="http://schemas.openxmlformats.org/drawingml/2006/main" noGrp="1"/>
          </p:cNvSpPr>
          <p:nvPr/>
        </p:nvSpPr>
        <p:spPr>
          <a:xfrm xmlns:a="http://schemas.openxmlformats.org/drawingml/2006/main">
            <a:off x="533400" y="628650"/>
            <a:ext cx="10839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0253F"/>
                </a:solidFill>
                <a:latin typeface="Arial"/>
                <a:ea typeface="Arial"/>
                <a:cs typeface="Arial"/>
              </a:defRPr>
            </a:pPr>
            <a:r>
              <a:rPr sz="2850" b="1">
                <a:solidFill>
                  <a:srgbClr val="10253F"/>
                </a:solidFill>
                <a:latin typeface="Arial"/>
                <a:ea typeface="Arial"/>
                <a:cs typeface="Arial"/>
              </a:rPr>
              <a:t>Scale path</a:t>
            </a:r>
          </a:p>
        </p:txBody>
      </p:sp>
      <p:sp>
        <p:nvSpPr>
          <p:cNvPr id="4" name="">
            <a:extLst xmlns:a="http://schemas.openxmlformats.org/drawingml/2006/main">
              <a:ext uri="{FF2B5EF4-FFF2-40B4-BE49-F238E27FC236}">
                <a16:creationId xmlns:a16="http://schemas.microsoft.com/office/drawing/2014/main" id="{D2F1BE9E-6495-46D6-A95F-D850B04A6EA5}"/>
              </a:ext>
            </a:extLst>
          </p:cNvPr>
          <p:cNvSpPr>
            <a:spLocks xmlns:a="http://schemas.openxmlformats.org/drawingml/2006/main" noGrp="1"/>
          </p:cNvSpPr>
          <p:nvPr/>
        </p:nvSpPr>
        <p:spPr>
          <a:xfrm xmlns:a="http://schemas.openxmlformats.org/drawingml/2006/main">
            <a:off x="111442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125" b="1">
                <a:solidFill>
                  <a:srgbClr val="0D7C75"/>
                </a:solidFill>
                <a:latin typeface="Arial"/>
                <a:ea typeface="Arial"/>
                <a:cs typeface="Arial"/>
              </a:defRPr>
            </a:pPr>
            <a:r>
              <a:rPr sz="1125" b="1">
                <a:solidFill>
                  <a:srgbClr val="0D7C7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8EE40F3A-4A1F-4C92-879E-07E03DB6B904}"/>
              </a:ext>
            </a:extLst>
          </p:cNvPr>
          <p:cNvSpPr>
            <a:spLocks xmlns:a="http://schemas.openxmlformats.org/drawingml/2006/main" noGrp="1"/>
          </p:cNvSpPr>
          <p:nvPr/>
        </p:nvSpPr>
        <p:spPr>
          <a:xfrm xmlns:a="http://schemas.openxmlformats.org/drawingml/2006/main">
            <a:off x="6667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D7C75"/>
                </a:solidFill>
                <a:latin typeface="Arial"/>
                <a:ea typeface="Arial"/>
                <a:cs typeface="Arial"/>
              </a:defRPr>
            </a:pPr>
            <a:r>
              <a:rPr sz="1350" b="1">
                <a:solidFill>
                  <a:srgbClr val="0D7C75"/>
                </a:solidFill>
                <a:latin typeface="Arial"/>
                <a:ea typeface="Arial"/>
                <a:cs typeface="Arial"/>
              </a:rPr>
              <a:t>IDENTITY</a:t>
            </a:r>
          </a:p>
        </p:txBody>
      </p:sp>
      <p:sp>
        <p:nvSpPr>
          <p:cNvPr id="6" name="">
            <a:extLst xmlns:a="http://schemas.openxmlformats.org/drawingml/2006/main">
              <a:ext uri="{FF2B5EF4-FFF2-40B4-BE49-F238E27FC236}">
                <a16:creationId xmlns:a16="http://schemas.microsoft.com/office/drawing/2014/main" id="{614209F2-1D5C-4CE3-963F-24DC30FF2B2A}"/>
              </a:ext>
            </a:extLst>
          </p:cNvPr>
          <p:cNvSpPr>
            <a:spLocks xmlns:a="http://schemas.openxmlformats.org/drawingml/2006/main" noGrp="1"/>
          </p:cNvSpPr>
          <p:nvPr/>
        </p:nvSpPr>
        <p:spPr>
          <a:xfrm xmlns:a="http://schemas.openxmlformats.org/drawingml/2006/main">
            <a:off x="666750" y="2190750"/>
            <a:ext cx="2857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263746"/>
                </a:solidFill>
                <a:latin typeface="Arial"/>
                <a:ea typeface="Arial"/>
                <a:cs typeface="Arial"/>
              </a:defRPr>
            </a:pPr>
            <a:r>
              <a:rPr sz="1800" b="0">
                <a:solidFill>
                  <a:srgbClr val="263746"/>
                </a:solidFill>
                <a:latin typeface="Arial"/>
                <a:ea typeface="Arial"/>
                <a:cs typeface="Arial"/>
              </a:rPr>
              <a:t>Move to Microsoft Entra ID or Keycloak with asymmetric JWTs.</a:t>
            </a:r>
          </a:p>
        </p:txBody>
      </p:sp>
      <p:sp>
        <p:nvSpPr>
          <p:cNvPr id="7" name="">
            <a:extLst xmlns:a="http://schemas.openxmlformats.org/drawingml/2006/main">
              <a:ext uri="{FF2B5EF4-FFF2-40B4-BE49-F238E27FC236}">
                <a16:creationId xmlns:a16="http://schemas.microsoft.com/office/drawing/2014/main" id="{2AD7B05E-D7C2-42E0-926E-2E4D17A3DBA8}"/>
              </a:ext>
            </a:extLst>
          </p:cNvPr>
          <p:cNvSpPr>
            <a:spLocks xmlns:a="http://schemas.openxmlformats.org/drawingml/2006/main" noGrp="1"/>
          </p:cNvSpPr>
          <p:nvPr/>
        </p:nvSpPr>
        <p:spPr>
          <a:xfrm xmlns:a="http://schemas.openxmlformats.org/drawingml/2006/main">
            <a:off x="666750" y="4191000"/>
            <a:ext cx="2667000" cy="47625"/>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AA1A71-A5CE-4EB1-BB64-AC97AD4D029A}"/>
              </a:ext>
            </a:extLst>
          </p:cNvPr>
          <p:cNvSpPr>
            <a:spLocks xmlns:a="http://schemas.openxmlformats.org/drawingml/2006/main" noGrp="1"/>
          </p:cNvSpPr>
          <p:nvPr/>
        </p:nvSpPr>
        <p:spPr>
          <a:xfrm xmlns:a="http://schemas.openxmlformats.org/drawingml/2006/main">
            <a:off x="400050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9A62E"/>
                </a:solidFill>
                <a:latin typeface="Arial"/>
                <a:ea typeface="Arial"/>
                <a:cs typeface="Arial"/>
              </a:defRPr>
            </a:pPr>
            <a:r>
              <a:rPr sz="1350" b="1">
                <a:solidFill>
                  <a:srgbClr val="D9A62E"/>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EEC760EA-6AA4-41D2-8B7D-B8EC556E7B50}"/>
              </a:ext>
            </a:extLst>
          </p:cNvPr>
          <p:cNvSpPr>
            <a:spLocks xmlns:a="http://schemas.openxmlformats.org/drawingml/2006/main" noGrp="1"/>
          </p:cNvSpPr>
          <p:nvPr/>
        </p:nvSpPr>
        <p:spPr>
          <a:xfrm xmlns:a="http://schemas.openxmlformats.org/drawingml/2006/main">
            <a:off x="4000500" y="2190750"/>
            <a:ext cx="2857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263746"/>
                </a:solidFill>
                <a:latin typeface="Arial"/>
                <a:ea typeface="Arial"/>
                <a:cs typeface="Arial"/>
              </a:defRPr>
            </a:pPr>
            <a:r>
              <a:rPr sz="1800" b="0">
                <a:solidFill>
                  <a:srgbClr val="263746"/>
                </a:solidFill>
                <a:latin typeface="Arial"/>
                <a:ea typeface="Arial"/>
                <a:cs typeface="Arial"/>
              </a:rPr>
              <a:t>Give each service its own schema and add an outbox plus Kafka retry and dead-letter topics.</a:t>
            </a:r>
          </a:p>
        </p:txBody>
      </p:sp>
      <p:sp>
        <p:nvSpPr>
          <p:cNvPr id="10" name="">
            <a:extLst xmlns:a="http://schemas.openxmlformats.org/drawingml/2006/main">
              <a:ext uri="{FF2B5EF4-FFF2-40B4-BE49-F238E27FC236}">
                <a16:creationId xmlns:a16="http://schemas.microsoft.com/office/drawing/2014/main" id="{6844358D-A656-4E97-BDF4-0D5DEDEB8EC5}"/>
              </a:ext>
            </a:extLst>
          </p:cNvPr>
          <p:cNvSpPr>
            <a:spLocks xmlns:a="http://schemas.openxmlformats.org/drawingml/2006/main" noGrp="1"/>
          </p:cNvSpPr>
          <p:nvPr/>
        </p:nvSpPr>
        <p:spPr>
          <a:xfrm xmlns:a="http://schemas.openxmlformats.org/drawingml/2006/main">
            <a:off x="4000500" y="4191000"/>
            <a:ext cx="2667000" cy="47625"/>
          </a:xfrm>
          <a:prstGeom xmlns:a="http://schemas.openxmlformats.org/drawingml/2006/main" prst="rect">
            <a:avLst/>
          </a:prstGeom>
          <a:solidFill xmlns:a="http://schemas.openxmlformats.org/drawingml/2006/main">
            <a:srgbClr val="D9A62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1A7967C-97CC-4E10-BF88-B7D7E3865005}"/>
              </a:ext>
            </a:extLst>
          </p:cNvPr>
          <p:cNvSpPr>
            <a:spLocks xmlns:a="http://schemas.openxmlformats.org/drawingml/2006/main" noGrp="1"/>
          </p:cNvSpPr>
          <p:nvPr/>
        </p:nvSpPr>
        <p:spPr>
          <a:xfrm xmlns:a="http://schemas.openxmlformats.org/drawingml/2006/main">
            <a:off x="7334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D7C75"/>
                </a:solidFill>
                <a:latin typeface="Arial"/>
                <a:ea typeface="Arial"/>
                <a:cs typeface="Arial"/>
              </a:defRPr>
            </a:pPr>
            <a:r>
              <a:rPr sz="1350" b="1">
                <a:solidFill>
                  <a:srgbClr val="0D7C75"/>
                </a:solidFill>
                <a:latin typeface="Arial"/>
                <a:ea typeface="Arial"/>
                <a:cs typeface="Arial"/>
              </a:rPr>
              <a:t>OPERATIONS</a:t>
            </a:r>
          </a:p>
        </p:txBody>
      </p:sp>
      <p:sp>
        <p:nvSpPr>
          <p:cNvPr id="12" name="">
            <a:extLst xmlns:a="http://schemas.openxmlformats.org/drawingml/2006/main">
              <a:ext uri="{FF2B5EF4-FFF2-40B4-BE49-F238E27FC236}">
                <a16:creationId xmlns:a16="http://schemas.microsoft.com/office/drawing/2014/main" id="{D20FF920-17C8-468B-A438-281D8E99D6E7}"/>
              </a:ext>
            </a:extLst>
          </p:cNvPr>
          <p:cNvSpPr>
            <a:spLocks xmlns:a="http://schemas.openxmlformats.org/drawingml/2006/main" noGrp="1"/>
          </p:cNvSpPr>
          <p:nvPr/>
        </p:nvSpPr>
        <p:spPr>
          <a:xfrm xmlns:a="http://schemas.openxmlformats.org/drawingml/2006/main">
            <a:off x="7334250" y="2190750"/>
            <a:ext cx="2857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263746"/>
                </a:solidFill>
                <a:latin typeface="Arial"/>
                <a:ea typeface="Arial"/>
                <a:cs typeface="Arial"/>
              </a:defRPr>
            </a:pPr>
            <a:r>
              <a:rPr sz="1800" b="0">
                <a:solidFill>
                  <a:srgbClr val="263746"/>
                </a:solidFill>
                <a:latin typeface="Arial"/>
                <a:ea typeface="Arial"/>
                <a:cs typeface="Arial"/>
              </a:rPr>
              <a:t>Add OpenTelemetry, dashboards, managed secrets and contract tests.</a:t>
            </a:r>
          </a:p>
        </p:txBody>
      </p:sp>
      <p:sp>
        <p:nvSpPr>
          <p:cNvPr id="13" name="">
            <a:extLst xmlns:a="http://schemas.openxmlformats.org/drawingml/2006/main">
              <a:ext uri="{FF2B5EF4-FFF2-40B4-BE49-F238E27FC236}">
                <a16:creationId xmlns:a16="http://schemas.microsoft.com/office/drawing/2014/main" id="{E96260D5-D1C2-40B2-859E-90E08FB0A6F1}"/>
              </a:ext>
            </a:extLst>
          </p:cNvPr>
          <p:cNvSpPr>
            <a:spLocks xmlns:a="http://schemas.openxmlformats.org/drawingml/2006/main" noGrp="1"/>
          </p:cNvSpPr>
          <p:nvPr/>
        </p:nvSpPr>
        <p:spPr>
          <a:xfrm xmlns:a="http://schemas.openxmlformats.org/drawingml/2006/main">
            <a:off x="7334250" y="4191000"/>
            <a:ext cx="2667000" cy="47625"/>
          </a:xfrm>
          <a:prstGeom xmlns:a="http://schemas.openxmlformats.org/drawingml/2006/main" prst="rect">
            <a:avLst/>
          </a:prstGeom>
          <a:solidFill xmlns:a="http://schemas.openxmlformats.org/drawingml/2006/main">
            <a:srgbClr val="0D7C7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1F71CF9-6007-48EB-AF4A-DA72F3E4F6A4}"/>
              </a:ext>
            </a:extLst>
          </p:cNvPr>
          <p:cNvSpPr>
            <a:spLocks xmlns:a="http://schemas.openxmlformats.org/drawingml/2006/main" noGrp="1"/>
          </p:cNvSpPr>
          <p:nvPr/>
        </p:nvSpPr>
        <p:spPr>
          <a:xfrm xmlns:a="http://schemas.openxmlformats.org/drawingml/2006/main">
            <a:off x="666750" y="5000625"/>
            <a:ext cx="1009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0253F"/>
                </a:solidFill>
                <a:latin typeface="Arial"/>
                <a:ea typeface="Arial"/>
                <a:cs typeface="Arial"/>
              </a:defRPr>
            </a:pPr>
            <a:r>
              <a:rPr sz="1800" b="1">
                <a:solidFill>
                  <a:srgbClr val="10253F"/>
                </a:solidFill>
                <a:latin typeface="Arial"/>
                <a:ea typeface="Arial"/>
                <a:cs typeface="Arial"/>
              </a:rPr>
              <a:t>Kubernetes HPAs already define the first horizontal scaling step. Azure for Students can host a later version if the university subscription is active.</a:t>
            </a:r>
          </a:p>
        </p:txBody>
      </p:sp>
    </p:spTree>
    <p:extLst>
      <p:ext uri="{BB962C8B-B14F-4D97-AF65-F5344CB8AC3E}">
        <p14:creationId xmlns:p14="http://schemas.microsoft.com/office/powerpoint/2010/main" val="1810143669"/>
      </p:ext>
    </p:extLst>
  </p:cSld>
</p:sld>
</file>

<file path=ppt/slides/slide12.xml><?xml version="1.0" encoding="utf-8"?>
<p:sld xmlns:p="http://schemas.openxmlformats.org/presentationml/2006/main">
  <p:cSld>
    <p:bg>
      <p:bgPr>
        <a:solidFill xmlns:a="http://schemas.openxmlformats.org/drawingml/2006/main">
          <a:srgbClr val="0D7C7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5654C8-515A-4AFC-8F76-3E3B98AB0D67}"/>
              </a:ext>
            </a:extLst>
          </p:cNvPr>
          <p:cNvSpPr>
            <a:spLocks xmlns:a="http://schemas.openxmlformats.org/drawingml/2006/main" noGrp="1"/>
          </p:cNvSpPr>
          <p:nvPr/>
        </p:nvSpPr>
        <p:spPr>
          <a:xfrm xmlns:a="http://schemas.openxmlformats.org/drawingml/2006/main">
            <a:off x="762000" y="10001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D9A62E"/>
                </a:solidFill>
                <a:latin typeface="Arial"/>
                <a:ea typeface="Arial"/>
                <a:cs typeface="Arial"/>
              </a:defRPr>
            </a:pPr>
            <a:r>
              <a:rPr sz="1500" b="1">
                <a:solidFill>
                  <a:srgbClr val="D9A62E"/>
                </a:solidFill>
                <a:latin typeface="Arial"/>
                <a:ea typeface="Arial"/>
                <a:cs typeface="Arial"/>
              </a:rPr>
              <a:t>READY FOR</a:t>
            </a:r>
          </a:p>
        </p:txBody>
      </p:sp>
      <p:sp>
        <p:nvSpPr>
          <p:cNvPr id="2" name="">
            <a:extLst xmlns:a="http://schemas.openxmlformats.org/drawingml/2006/main">
              <a:ext uri="{FF2B5EF4-FFF2-40B4-BE49-F238E27FC236}">
                <a16:creationId xmlns:a16="http://schemas.microsoft.com/office/drawing/2014/main" id="{E88169CD-E84B-4A09-A822-BC32E84F7F1E}"/>
              </a:ext>
            </a:extLst>
          </p:cNvPr>
          <p:cNvSpPr>
            <a:spLocks xmlns:a="http://schemas.openxmlformats.org/drawingml/2006/main" noGrp="1"/>
          </p:cNvSpPr>
          <p:nvPr/>
        </p:nvSpPr>
        <p:spPr>
          <a:xfrm xmlns:a="http://schemas.openxmlformats.org/drawingml/2006/main">
            <a:off x="762000" y="1524000"/>
            <a:ext cx="857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Demonstration</a:t>
            </a:r>
          </a:p>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and integration</a:t>
            </a:r>
          </a:p>
        </p:txBody>
      </p:sp>
      <p:sp>
        <p:nvSpPr>
          <p:cNvPr id="3" name="">
            <a:extLst xmlns:a="http://schemas.openxmlformats.org/drawingml/2006/main">
              <a:ext uri="{FF2B5EF4-FFF2-40B4-BE49-F238E27FC236}">
                <a16:creationId xmlns:a16="http://schemas.microsoft.com/office/drawing/2014/main" id="{DCCD963F-8FE7-4287-A08F-F92F53EA807C}"/>
              </a:ext>
            </a:extLst>
          </p:cNvPr>
          <p:cNvSpPr>
            <a:spLocks xmlns:a="http://schemas.openxmlformats.org/drawingml/2006/main" noGrp="1"/>
          </p:cNvSpPr>
          <p:nvPr/>
        </p:nvSpPr>
        <p:spPr>
          <a:xfrm xmlns:a="http://schemas.openxmlformats.org/drawingml/2006/main">
            <a:off x="762000" y="3714750"/>
            <a:ext cx="10001250" cy="19050"/>
          </a:xfrm>
          <a:prstGeom xmlns:a="http://schemas.openxmlformats.org/drawingml/2006/main" prst="rect">
            <a:avLst/>
          </a:prstGeom>
          <a:solidFill xmlns:a="http://schemas.openxmlformats.org/drawingml/2006/main">
            <a:srgbClr val="DDF2E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0ABEF8-A68B-43E0-B143-D8026532EA46}"/>
              </a:ext>
            </a:extLst>
          </p:cNvPr>
          <p:cNvSpPr>
            <a:spLocks xmlns:a="http://schemas.openxmlformats.org/drawingml/2006/main" noGrp="1"/>
          </p:cNvSpPr>
          <p:nvPr/>
        </p:nvSpPr>
        <p:spPr>
          <a:xfrm xmlns:a="http://schemas.openxmlformats.org/drawingml/2006/main">
            <a:off x="762000" y="4191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Source code</a:t>
            </a:r>
          </a:p>
        </p:txBody>
      </p:sp>
      <p:sp>
        <p:nvSpPr>
          <p:cNvPr id="5" name="">
            <a:extLst xmlns:a="http://schemas.openxmlformats.org/drawingml/2006/main">
              <a:ext uri="{FF2B5EF4-FFF2-40B4-BE49-F238E27FC236}">
                <a16:creationId xmlns:a16="http://schemas.microsoft.com/office/drawing/2014/main" id="{FCC3FF40-2296-4BA7-B0C4-85B3F99CFC30}"/>
              </a:ext>
            </a:extLst>
          </p:cNvPr>
          <p:cNvSpPr>
            <a:spLocks xmlns:a="http://schemas.openxmlformats.org/drawingml/2006/main" noGrp="1"/>
          </p:cNvSpPr>
          <p:nvPr/>
        </p:nvSpPr>
        <p:spPr>
          <a:xfrm xmlns:a="http://schemas.openxmlformats.org/drawingml/2006/main">
            <a:off x="3619500" y="4191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Report + PDF</a:t>
            </a:r>
          </a:p>
        </p:txBody>
      </p:sp>
      <p:sp>
        <p:nvSpPr>
          <p:cNvPr id="6" name="">
            <a:extLst xmlns:a="http://schemas.openxmlformats.org/drawingml/2006/main">
              <a:ext uri="{FF2B5EF4-FFF2-40B4-BE49-F238E27FC236}">
                <a16:creationId xmlns:a16="http://schemas.microsoft.com/office/drawing/2014/main" id="{FAD39A1F-ED8E-4858-AF26-C1BC9B91A959}"/>
              </a:ext>
            </a:extLst>
          </p:cNvPr>
          <p:cNvSpPr>
            <a:spLocks xmlns:a="http://schemas.openxmlformats.org/drawingml/2006/main" noGrp="1"/>
          </p:cNvSpPr>
          <p:nvPr/>
        </p:nvSpPr>
        <p:spPr>
          <a:xfrm xmlns:a="http://schemas.openxmlformats.org/drawingml/2006/main">
            <a:off x="6477000" y="4191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Presentation</a:t>
            </a:r>
          </a:p>
        </p:txBody>
      </p:sp>
      <p:sp>
        <p:nvSpPr>
          <p:cNvPr id="7" name="">
            <a:extLst xmlns:a="http://schemas.openxmlformats.org/drawingml/2006/main">
              <a:ext uri="{FF2B5EF4-FFF2-40B4-BE49-F238E27FC236}">
                <a16:creationId xmlns:a16="http://schemas.microsoft.com/office/drawing/2014/main" id="{4527BF7E-9EBB-4927-BA9F-269D6273C6FE}"/>
              </a:ext>
            </a:extLst>
          </p:cNvPr>
          <p:cNvSpPr>
            <a:spLocks xmlns:a="http://schemas.openxmlformats.org/drawingml/2006/main" noGrp="1"/>
          </p:cNvSpPr>
          <p:nvPr/>
        </p:nvSpPr>
        <p:spPr>
          <a:xfrm xmlns:a="http://schemas.openxmlformats.org/drawingml/2006/main">
            <a:off x="9334500" y="41910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Demo package</a:t>
            </a:r>
          </a:p>
        </p:txBody>
      </p:sp>
      <p:sp>
        <p:nvSpPr>
          <p:cNvPr id="8" name="">
            <a:extLst xmlns:a="http://schemas.openxmlformats.org/drawingml/2006/main">
              <a:ext uri="{FF2B5EF4-FFF2-40B4-BE49-F238E27FC236}">
                <a16:creationId xmlns:a16="http://schemas.microsoft.com/office/drawing/2014/main" id="{985D1CA9-8B1C-4FEB-8DA9-15AB7115C7DB}"/>
              </a:ext>
            </a:extLst>
          </p:cNvPr>
          <p:cNvSpPr>
            <a:spLocks xmlns:a="http://schemas.openxmlformats.org/drawingml/2006/main" noGrp="1"/>
          </p:cNvSpPr>
          <p:nvPr/>
        </p:nvSpPr>
        <p:spPr>
          <a:xfrm xmlns:a="http://schemas.openxmlformats.org/drawingml/2006/main">
            <a:off x="762000" y="5619750"/>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DDF2EE"/>
                </a:solidFill>
                <a:latin typeface="Arial"/>
                <a:ea typeface="Arial"/>
                <a:cs typeface="Arial"/>
              </a:defRPr>
            </a:pPr>
            <a:r>
              <a:rPr sz="1425" b="0">
                <a:solidFill>
                  <a:srgbClr val="DDF2EE"/>
                </a:solidFill>
                <a:latin typeface="Arial"/>
                <a:ea typeface="Arial"/>
                <a:cs typeface="Arial"/>
              </a:rPr>
              <a:t>github.com/krishna1211711/fixed-deposit-microservice</a:t>
            </a:r>
          </a:p>
        </p:txBody>
      </p:sp>
    </p:spTree>
    <p:extLst>
      <p:ext uri="{BB962C8B-B14F-4D97-AF65-F5344CB8AC3E}">
        <p14:creationId xmlns:p14="http://schemas.microsoft.com/office/powerpoint/2010/main" val="1852011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2026-09-11T19:24:22.4240000Z</dcterms:created>
  <dcterms:modified xsi:type="dcterms:W3CDTF">2026-09-11T19:24:22.4240000Z</dcterms:modified>
</coreProperties>
</file>